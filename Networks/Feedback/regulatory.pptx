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p:scale>
          <a:sx n="80" d="100"/>
          <a:sy n="80" d="100"/>
        </p:scale>
        <p:origin x="60"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F19377-A2A4-4FE8-9828-9030CD7D3758}" type="datetimeFigureOut">
              <a:rPr lang="en-GB" smtClean="0"/>
              <a:t>03/09/2022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84E5EA-04C7-4F84-B4E9-02A69B672A29}" type="slidenum">
              <a:rPr lang="en-GB" smtClean="0"/>
              <a:t>‹#›</a:t>
            </a:fld>
            <a:endParaRPr lang="en-GB"/>
          </a:p>
        </p:txBody>
      </p:sp>
    </p:spTree>
    <p:extLst>
      <p:ext uri="{BB962C8B-B14F-4D97-AF65-F5344CB8AC3E}">
        <p14:creationId xmlns:p14="http://schemas.microsoft.com/office/powerpoint/2010/main" val="804036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D623D-5396-3479-7993-47353B8FE7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607DA65-F479-777D-8B8F-4D49FE5656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EE0737C-3E06-C322-3CE4-FF882E38257D}"/>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5" name="Footer Placeholder 4">
            <a:extLst>
              <a:ext uri="{FF2B5EF4-FFF2-40B4-BE49-F238E27FC236}">
                <a16:creationId xmlns:a16="http://schemas.microsoft.com/office/drawing/2014/main" id="{368926DE-EBE0-BBAC-9471-D6D1B975D6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76E0A0-500F-149E-1FD4-39D814A6E09C}"/>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138892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5F44E-0545-7411-00B8-5751DA4194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8C7C47-95B1-4D1F-0785-AC81C1D282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45CC6E-F138-62D8-DB6D-507FFF6633C1}"/>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5" name="Footer Placeholder 4">
            <a:extLst>
              <a:ext uri="{FF2B5EF4-FFF2-40B4-BE49-F238E27FC236}">
                <a16:creationId xmlns:a16="http://schemas.microsoft.com/office/drawing/2014/main" id="{69FF7DE8-38C4-A10D-9DB9-3BC7F5C61D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6C42F0-64ED-92A9-2DC4-C9D20237E246}"/>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1878638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13A0-2CA3-03F6-D40E-214D705487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D2100EB-7926-783F-A493-1301A8BB39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AF6A2D-EDD7-AD8C-607F-FE710537ECDB}"/>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5" name="Footer Placeholder 4">
            <a:extLst>
              <a:ext uri="{FF2B5EF4-FFF2-40B4-BE49-F238E27FC236}">
                <a16:creationId xmlns:a16="http://schemas.microsoft.com/office/drawing/2014/main" id="{54A03968-22B6-079C-D1D4-396D0C10EF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D4A9AA-E310-4926-701C-3BEF31C18985}"/>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1507655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C546-4F06-0574-507D-AB176A5DDC3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31075F-8DED-B939-9E74-C99CFE3B6A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909D67F-78B8-46E6-2320-2029F0845C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7E1AB3F-46CF-40AD-83E9-BDB793008A1B}"/>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6" name="Footer Placeholder 5">
            <a:extLst>
              <a:ext uri="{FF2B5EF4-FFF2-40B4-BE49-F238E27FC236}">
                <a16:creationId xmlns:a16="http://schemas.microsoft.com/office/drawing/2014/main" id="{1EDF7F96-A4F5-1CF6-0F9B-9CC0FE854A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4C6A215-9928-4996-2D94-B03A113EB2AF}"/>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504127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F3149-9E6E-3AA2-3CD8-6B100DCC185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0BBC1C7-91E8-9249-67E0-0E8201DAC3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456D1D-8325-F08C-5AD2-8D1BE2A4F0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CAF687F-D2CA-4009-9F5C-ED608EF036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46A07D-32D7-5D37-CE0C-BD54A069AD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D1097B5-B91C-1422-5248-A8400C9CB6AB}"/>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8" name="Footer Placeholder 7">
            <a:extLst>
              <a:ext uri="{FF2B5EF4-FFF2-40B4-BE49-F238E27FC236}">
                <a16:creationId xmlns:a16="http://schemas.microsoft.com/office/drawing/2014/main" id="{EC1949A7-0690-73AD-7EA7-95FD07F4490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A2CC94B-4B06-8921-FEFF-2D5AB6B038CA}"/>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1537709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79AC1-0596-955E-6769-DD379DE4B24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9D8577D-F978-7A1F-318A-03A7B8BA97CF}"/>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4" name="Footer Placeholder 3">
            <a:extLst>
              <a:ext uri="{FF2B5EF4-FFF2-40B4-BE49-F238E27FC236}">
                <a16:creationId xmlns:a16="http://schemas.microsoft.com/office/drawing/2014/main" id="{BDAC30A7-68CE-BFAC-2617-EAF331FCCF1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FED34CA-7481-B921-A82D-6DB6207E8CB6}"/>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4049345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C9F658-5F31-CAA4-81CF-C9BE5AAB952C}"/>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3" name="Footer Placeholder 2">
            <a:extLst>
              <a:ext uri="{FF2B5EF4-FFF2-40B4-BE49-F238E27FC236}">
                <a16:creationId xmlns:a16="http://schemas.microsoft.com/office/drawing/2014/main" id="{111FD205-4CCD-1725-337C-162D7CB09D5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5CBE660-601E-F565-A77D-5C71156D42C8}"/>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1132865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54181-637C-10F0-50D7-C8E7D28F13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7FF93B6-C5FC-58E6-87AE-86B3409B27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7D37AAC-F604-723E-AC8A-746A31CF5B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16D40-42B8-46AB-8328-974D53D772C5}"/>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6" name="Footer Placeholder 5">
            <a:extLst>
              <a:ext uri="{FF2B5EF4-FFF2-40B4-BE49-F238E27FC236}">
                <a16:creationId xmlns:a16="http://schemas.microsoft.com/office/drawing/2014/main" id="{2014131D-3371-39CF-1A8F-83D8EB5B8B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4ACECC-24D5-6582-7C3F-CD7AB60DA121}"/>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2289593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CF26-C69A-E7DA-FC73-AA382CA53F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6B19081-D29E-6406-487F-6089575776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F78D57A-3370-3196-3421-8550E03BE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F6B229-813E-A795-42E9-4B4E32506185}"/>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6" name="Footer Placeholder 5">
            <a:extLst>
              <a:ext uri="{FF2B5EF4-FFF2-40B4-BE49-F238E27FC236}">
                <a16:creationId xmlns:a16="http://schemas.microsoft.com/office/drawing/2014/main" id="{E8BE8D4C-D771-0D9F-DF5F-5F1DDEB3B20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FC159DA-88E5-EB46-9171-845428521E4F}"/>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3856295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D7A3F-08EA-9854-E6BD-D21256255F6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00077B2-64F0-E823-A4DB-72DAA36F0D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E1C930-03A1-5C2B-AF90-F2C7D398DE11}"/>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5" name="Footer Placeholder 4">
            <a:extLst>
              <a:ext uri="{FF2B5EF4-FFF2-40B4-BE49-F238E27FC236}">
                <a16:creationId xmlns:a16="http://schemas.microsoft.com/office/drawing/2014/main" id="{7C5F792A-2FA3-2994-6ABF-7C62959CC1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5969E6-C268-424A-08BA-B7E96FB42DDB}"/>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1955807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EA8722-082C-8DC1-A766-1D4620DD8D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7AF762-030B-A6B8-7A77-0816A40362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155278D-D785-45B6-3EE4-D8EB752ED588}"/>
              </a:ext>
            </a:extLst>
          </p:cNvPr>
          <p:cNvSpPr>
            <a:spLocks noGrp="1"/>
          </p:cNvSpPr>
          <p:nvPr>
            <p:ph type="dt" sz="half" idx="10"/>
          </p:nvPr>
        </p:nvSpPr>
        <p:spPr/>
        <p:txBody>
          <a:bodyPr/>
          <a:lstStyle/>
          <a:p>
            <a:fld id="{4480B955-E309-4D7C-9DDA-C7FA7DAEED91}" type="datetimeFigureOut">
              <a:rPr lang="en-GB" smtClean="0"/>
              <a:t>03/09/2022</a:t>
            </a:fld>
            <a:endParaRPr lang="en-GB"/>
          </a:p>
        </p:txBody>
      </p:sp>
      <p:sp>
        <p:nvSpPr>
          <p:cNvPr id="5" name="Footer Placeholder 4">
            <a:extLst>
              <a:ext uri="{FF2B5EF4-FFF2-40B4-BE49-F238E27FC236}">
                <a16:creationId xmlns:a16="http://schemas.microsoft.com/office/drawing/2014/main" id="{7875C6AA-B5CF-36A6-E4FE-604CCC00D1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4E68EE-4E2C-DEBB-C2BA-5439EEBE34FB}"/>
              </a:ext>
            </a:extLst>
          </p:cNvPr>
          <p:cNvSpPr>
            <a:spLocks noGrp="1"/>
          </p:cNvSpPr>
          <p:nvPr>
            <p:ph type="sldNum" sz="quarter" idx="12"/>
          </p:nvPr>
        </p:nvSpPr>
        <p:spPr/>
        <p:txBody>
          <a:bodyPr/>
          <a:lstStyle/>
          <a:p>
            <a:fld id="{19804FDF-C047-44E7-9631-DE339AA2B1A0}" type="slidenum">
              <a:rPr lang="en-GB" smtClean="0"/>
              <a:t>‹#›</a:t>
            </a:fld>
            <a:endParaRPr lang="en-GB"/>
          </a:p>
        </p:txBody>
      </p:sp>
    </p:spTree>
    <p:extLst>
      <p:ext uri="{BB962C8B-B14F-4D97-AF65-F5344CB8AC3E}">
        <p14:creationId xmlns:p14="http://schemas.microsoft.com/office/powerpoint/2010/main" val="631350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DD6615-D993-BED5-E5A7-50157F177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B436EA8-81FF-B7E6-8934-E1CF983CE5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2C5B50-3E8E-3C7D-1A6D-76FBA44C76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80B955-E309-4D7C-9DDA-C7FA7DAEED91}" type="datetimeFigureOut">
              <a:rPr lang="en-GB" smtClean="0"/>
              <a:t>03/09/2022</a:t>
            </a:fld>
            <a:endParaRPr lang="en-GB"/>
          </a:p>
        </p:txBody>
      </p:sp>
      <p:sp>
        <p:nvSpPr>
          <p:cNvPr id="5" name="Footer Placeholder 4">
            <a:extLst>
              <a:ext uri="{FF2B5EF4-FFF2-40B4-BE49-F238E27FC236}">
                <a16:creationId xmlns:a16="http://schemas.microsoft.com/office/drawing/2014/main" id="{3B892BF2-6453-7CE8-C30D-AA86A86347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17AAF5E-4D9B-0493-9DA1-29A3CB6910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804FDF-C047-44E7-9631-DE339AA2B1A0}" type="slidenum">
              <a:rPr lang="en-GB" smtClean="0"/>
              <a:t>‹#›</a:t>
            </a:fld>
            <a:endParaRPr lang="en-GB"/>
          </a:p>
        </p:txBody>
      </p:sp>
    </p:spTree>
    <p:extLst>
      <p:ext uri="{BB962C8B-B14F-4D97-AF65-F5344CB8AC3E}">
        <p14:creationId xmlns:p14="http://schemas.microsoft.com/office/powerpoint/2010/main" val="4076336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42D0-E0EF-0F86-6845-5EB4F4B55AA3}"/>
              </a:ext>
            </a:extLst>
          </p:cNvPr>
          <p:cNvSpPr>
            <a:spLocks noGrp="1"/>
          </p:cNvSpPr>
          <p:nvPr>
            <p:ph type="ctrTitle"/>
          </p:nvPr>
        </p:nvSpPr>
        <p:spPr/>
        <p:txBody>
          <a:bodyPr>
            <a:normAutofit fontScale="90000"/>
          </a:bodyPr>
          <a:lstStyle/>
          <a:p>
            <a:r>
              <a:rPr lang="en-GB" dirty="0"/>
              <a:t>Boolean directed network which mimics regulatory feedback networks</a:t>
            </a:r>
          </a:p>
        </p:txBody>
      </p:sp>
    </p:spTree>
    <p:extLst>
      <p:ext uri="{BB962C8B-B14F-4D97-AF65-F5344CB8AC3E}">
        <p14:creationId xmlns:p14="http://schemas.microsoft.com/office/powerpoint/2010/main" val="2314014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85D6-B8C2-7439-84CF-B6D875E75FC0}"/>
              </a:ext>
            </a:extLst>
          </p:cNvPr>
          <p:cNvSpPr>
            <a:spLocks noGrp="1"/>
          </p:cNvSpPr>
          <p:nvPr>
            <p:ph type="title"/>
          </p:nvPr>
        </p:nvSpPr>
        <p:spPr/>
        <p:txBody>
          <a:bodyPr/>
          <a:lstStyle/>
          <a:p>
            <a:r>
              <a:rPr lang="en-GB" dirty="0"/>
              <a:t>The Setup</a:t>
            </a:r>
          </a:p>
        </p:txBody>
      </p:sp>
      <p:sp>
        <p:nvSpPr>
          <p:cNvPr id="3" name="Content Placeholder 2">
            <a:extLst>
              <a:ext uri="{FF2B5EF4-FFF2-40B4-BE49-F238E27FC236}">
                <a16:creationId xmlns:a16="http://schemas.microsoft.com/office/drawing/2014/main" id="{032F23E7-6BF7-5431-52E7-FD5A431A607A}"/>
              </a:ext>
            </a:extLst>
          </p:cNvPr>
          <p:cNvSpPr>
            <a:spLocks noGrp="1"/>
          </p:cNvSpPr>
          <p:nvPr>
            <p:ph idx="1"/>
          </p:nvPr>
        </p:nvSpPr>
        <p:spPr/>
        <p:txBody>
          <a:bodyPr/>
          <a:lstStyle/>
          <a:p>
            <a:pPr marL="0" indent="0">
              <a:buNone/>
            </a:pPr>
            <a:r>
              <a:rPr lang="en-GB" dirty="0"/>
              <a:t>An </a:t>
            </a:r>
            <a:r>
              <a:rPr lang="en-GB" dirty="0" err="1"/>
              <a:t>Erdös-Renyi</a:t>
            </a:r>
            <a:r>
              <a:rPr lang="en-GB" dirty="0"/>
              <a:t> random graph is generated with directed edges. The edges either have a positive effect(weight = +1) or a negative effect(weight = -1).</a:t>
            </a:r>
          </a:p>
          <a:p>
            <a:pPr marL="0" indent="0">
              <a:buNone/>
            </a:pPr>
            <a:r>
              <a:rPr lang="en-GB" dirty="0"/>
              <a:t>Each node is either ON or OFF and all nodes start ON.</a:t>
            </a:r>
          </a:p>
          <a:p>
            <a:pPr marL="0" indent="0">
              <a:buNone/>
            </a:pPr>
            <a:r>
              <a:rPr lang="en-GB" dirty="0"/>
              <a:t>For example:</a:t>
            </a:r>
          </a:p>
        </p:txBody>
      </p:sp>
      <p:sp>
        <p:nvSpPr>
          <p:cNvPr id="4" name="Oval 3">
            <a:extLst>
              <a:ext uri="{FF2B5EF4-FFF2-40B4-BE49-F238E27FC236}">
                <a16:creationId xmlns:a16="http://schemas.microsoft.com/office/drawing/2014/main" id="{289A7F07-47E0-DB8A-ED2D-8CD97C925289}"/>
              </a:ext>
            </a:extLst>
          </p:cNvPr>
          <p:cNvSpPr/>
          <p:nvPr/>
        </p:nvSpPr>
        <p:spPr>
          <a:xfrm>
            <a:off x="3164619" y="5550010"/>
            <a:ext cx="667909" cy="667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1AD7E707-13E3-BAB1-9FA0-40629C92EFC1}"/>
              </a:ext>
            </a:extLst>
          </p:cNvPr>
          <p:cNvSpPr/>
          <p:nvPr/>
        </p:nvSpPr>
        <p:spPr>
          <a:xfrm>
            <a:off x="4740303" y="3778194"/>
            <a:ext cx="667909" cy="667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BDCEE3FB-99A5-7754-25A1-6AB726911ABD}"/>
              </a:ext>
            </a:extLst>
          </p:cNvPr>
          <p:cNvSpPr/>
          <p:nvPr/>
        </p:nvSpPr>
        <p:spPr>
          <a:xfrm>
            <a:off x="5408212" y="5216055"/>
            <a:ext cx="667909" cy="667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a:extLst>
              <a:ext uri="{FF2B5EF4-FFF2-40B4-BE49-F238E27FC236}">
                <a16:creationId xmlns:a16="http://schemas.microsoft.com/office/drawing/2014/main" id="{24FFF33C-AD4C-A517-526B-A52DD54A0592}"/>
              </a:ext>
            </a:extLst>
          </p:cNvPr>
          <p:cNvCxnSpPr>
            <a:cxnSpLocks/>
            <a:stCxn id="4" idx="7"/>
            <a:endCxn id="5" idx="3"/>
          </p:cNvCxnSpPr>
          <p:nvPr/>
        </p:nvCxnSpPr>
        <p:spPr>
          <a:xfrm flipV="1">
            <a:off x="3734715" y="4348290"/>
            <a:ext cx="1103401" cy="129953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8EA680A-1D97-5F54-6D6A-1066F60A818B}"/>
              </a:ext>
            </a:extLst>
          </p:cNvPr>
          <p:cNvCxnSpPr>
            <a:cxnSpLocks/>
            <a:stCxn id="4" idx="6"/>
            <a:endCxn id="6" idx="2"/>
          </p:cNvCxnSpPr>
          <p:nvPr/>
        </p:nvCxnSpPr>
        <p:spPr>
          <a:xfrm flipV="1">
            <a:off x="3832528" y="5550010"/>
            <a:ext cx="1575684" cy="3339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995050B-C690-799A-81D1-591EEC32F70A}"/>
              </a:ext>
            </a:extLst>
          </p:cNvPr>
          <p:cNvCxnSpPr>
            <a:cxnSpLocks/>
            <a:stCxn id="6" idx="0"/>
            <a:endCxn id="5" idx="5"/>
          </p:cNvCxnSpPr>
          <p:nvPr/>
        </p:nvCxnSpPr>
        <p:spPr>
          <a:xfrm flipH="1" flipV="1">
            <a:off x="5310399" y="4348290"/>
            <a:ext cx="431768" cy="8677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93D88A6-35CC-21B0-E28D-94743358FD26}"/>
              </a:ext>
            </a:extLst>
          </p:cNvPr>
          <p:cNvSpPr txBox="1"/>
          <p:nvPr/>
        </p:nvSpPr>
        <p:spPr>
          <a:xfrm>
            <a:off x="3333458" y="5618019"/>
            <a:ext cx="401257" cy="477054"/>
          </a:xfrm>
          <a:prstGeom prst="rect">
            <a:avLst/>
          </a:prstGeom>
          <a:noFill/>
        </p:spPr>
        <p:txBody>
          <a:bodyPr wrap="square" rtlCol="0">
            <a:spAutoFit/>
          </a:bodyPr>
          <a:lstStyle/>
          <a:p>
            <a:r>
              <a:rPr lang="en-GB" sz="2500" dirty="0">
                <a:solidFill>
                  <a:schemeClr val="bg1"/>
                </a:solidFill>
              </a:rPr>
              <a:t>0</a:t>
            </a:r>
          </a:p>
        </p:txBody>
      </p:sp>
      <p:sp>
        <p:nvSpPr>
          <p:cNvPr id="17" name="TextBox 16">
            <a:extLst>
              <a:ext uri="{FF2B5EF4-FFF2-40B4-BE49-F238E27FC236}">
                <a16:creationId xmlns:a16="http://schemas.microsoft.com/office/drawing/2014/main" id="{DCCF8AF1-1697-8FF8-E3F6-CCB8558DC611}"/>
              </a:ext>
            </a:extLst>
          </p:cNvPr>
          <p:cNvSpPr txBox="1"/>
          <p:nvPr/>
        </p:nvSpPr>
        <p:spPr>
          <a:xfrm>
            <a:off x="4909142" y="3847971"/>
            <a:ext cx="401257" cy="477054"/>
          </a:xfrm>
          <a:prstGeom prst="rect">
            <a:avLst/>
          </a:prstGeom>
          <a:noFill/>
        </p:spPr>
        <p:txBody>
          <a:bodyPr wrap="square" rtlCol="0">
            <a:spAutoFit/>
          </a:bodyPr>
          <a:lstStyle/>
          <a:p>
            <a:r>
              <a:rPr lang="en-GB" sz="2500" dirty="0">
                <a:solidFill>
                  <a:schemeClr val="bg1"/>
                </a:solidFill>
              </a:rPr>
              <a:t>1</a:t>
            </a:r>
          </a:p>
        </p:txBody>
      </p:sp>
      <p:sp>
        <p:nvSpPr>
          <p:cNvPr id="18" name="TextBox 17">
            <a:extLst>
              <a:ext uri="{FF2B5EF4-FFF2-40B4-BE49-F238E27FC236}">
                <a16:creationId xmlns:a16="http://schemas.microsoft.com/office/drawing/2014/main" id="{290579A9-4301-7D5D-F010-0EE6901A873C}"/>
              </a:ext>
            </a:extLst>
          </p:cNvPr>
          <p:cNvSpPr txBox="1"/>
          <p:nvPr/>
        </p:nvSpPr>
        <p:spPr>
          <a:xfrm>
            <a:off x="5577051" y="5309097"/>
            <a:ext cx="401257" cy="477054"/>
          </a:xfrm>
          <a:prstGeom prst="rect">
            <a:avLst/>
          </a:prstGeom>
          <a:noFill/>
        </p:spPr>
        <p:txBody>
          <a:bodyPr wrap="square" rtlCol="0">
            <a:spAutoFit/>
          </a:bodyPr>
          <a:lstStyle/>
          <a:p>
            <a:r>
              <a:rPr lang="en-GB" sz="2500" dirty="0">
                <a:solidFill>
                  <a:schemeClr val="bg1"/>
                </a:solidFill>
              </a:rPr>
              <a:t>2</a:t>
            </a:r>
          </a:p>
        </p:txBody>
      </p:sp>
    </p:spTree>
    <p:extLst>
      <p:ext uri="{BB962C8B-B14F-4D97-AF65-F5344CB8AC3E}">
        <p14:creationId xmlns:p14="http://schemas.microsoft.com/office/powerpoint/2010/main" val="2924175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B0B26-C961-633E-9DB4-453FDFA3E31E}"/>
              </a:ext>
            </a:extLst>
          </p:cNvPr>
          <p:cNvSpPr>
            <a:spLocks noGrp="1"/>
          </p:cNvSpPr>
          <p:nvPr>
            <p:ph type="title"/>
          </p:nvPr>
        </p:nvSpPr>
        <p:spPr/>
        <p:txBody>
          <a:bodyPr/>
          <a:lstStyle/>
          <a:p>
            <a:r>
              <a:rPr lang="en-GB" dirty="0"/>
              <a:t>The Rules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04A99D-FE27-1A9C-8174-953348B42447}"/>
                  </a:ext>
                </a:extLst>
              </p:cNvPr>
              <p:cNvSpPr>
                <a:spLocks noGrp="1"/>
              </p:cNvSpPr>
              <p:nvPr>
                <p:ph idx="1"/>
              </p:nvPr>
            </p:nvSpPr>
            <p:spPr>
              <a:xfrm>
                <a:off x="838200" y="1407381"/>
                <a:ext cx="10515600" cy="4769582"/>
              </a:xfrm>
            </p:spPr>
            <p:txBody>
              <a:bodyPr>
                <a:noAutofit/>
              </a:bodyPr>
              <a:lstStyle/>
              <a:p>
                <a:pPr marL="0" indent="0">
                  <a:buNone/>
                </a:pPr>
                <a:r>
                  <a:rPr lang="en-GB" sz="2300" dirty="0"/>
                  <a:t>At each time step, the state of the nodes is calculated using the </a:t>
                </a:r>
                <a:r>
                  <a:rPr lang="en-GB" sz="2300" dirty="0" err="1"/>
                  <a:t>the</a:t>
                </a:r>
                <a:r>
                  <a:rPr lang="en-GB" sz="2300" dirty="0"/>
                  <a:t> incoming edges into the node, their weights and state of the nodes which the edge is coming from. In order to calculate the state of the node, we calculate the edge sum, </a:t>
                </a:r>
                <a14:m>
                  <m:oMath xmlns:m="http://schemas.openxmlformats.org/officeDocument/2006/math">
                    <m:sSub>
                      <m:sSubPr>
                        <m:ctrlPr>
                          <a:rPr lang="en-GB" sz="2300" b="0" i="1" smtClean="0">
                            <a:latin typeface="Cambria Math" panose="02040503050406030204" pitchFamily="18" charset="0"/>
                          </a:rPr>
                        </m:ctrlPr>
                      </m:sSubPr>
                      <m:e>
                        <m:r>
                          <a:rPr lang="en-GB" sz="2300" b="0" i="1" smtClean="0">
                            <a:latin typeface="Cambria Math" panose="02040503050406030204" pitchFamily="18" charset="0"/>
                          </a:rPr>
                          <m:t>𝑆</m:t>
                        </m:r>
                      </m:e>
                      <m:sub>
                        <m:r>
                          <a:rPr lang="en-GB" sz="2300" b="0" i="1" smtClean="0">
                            <a:latin typeface="Cambria Math" panose="02040503050406030204" pitchFamily="18" charset="0"/>
                          </a:rPr>
                          <m:t>𝑖</m:t>
                        </m:r>
                      </m:sub>
                    </m:sSub>
                  </m:oMath>
                </a14:m>
                <a:r>
                  <a:rPr lang="en-GB" sz="2300" dirty="0"/>
                  <a:t>, for node </a:t>
                </a:r>
                <a:r>
                  <a:rPr lang="en-GB" sz="2300" dirty="0" err="1"/>
                  <a:t>i</a:t>
                </a:r>
                <a:r>
                  <a:rPr lang="en-GB" sz="2300" dirty="0"/>
                  <a:t>.</a:t>
                </a:r>
              </a:p>
              <a:p>
                <a:pPr marL="0" indent="0">
                  <a:buNone/>
                </a:pPr>
                <a14:m>
                  <m:oMathPara xmlns:m="http://schemas.openxmlformats.org/officeDocument/2006/math">
                    <m:oMathParaPr>
                      <m:jc m:val="centerGroup"/>
                    </m:oMathParaPr>
                    <m:oMath xmlns:m="http://schemas.openxmlformats.org/officeDocument/2006/math">
                      <m:sSub>
                        <m:sSubPr>
                          <m:ctrlPr>
                            <a:rPr lang="en-GB" sz="2300" b="0" i="1" smtClean="0">
                              <a:latin typeface="Cambria Math" panose="02040503050406030204" pitchFamily="18" charset="0"/>
                            </a:rPr>
                          </m:ctrlPr>
                        </m:sSubPr>
                        <m:e>
                          <m:r>
                            <a:rPr lang="en-GB" sz="2300" b="0" i="1" smtClean="0">
                              <a:latin typeface="Cambria Math" panose="02040503050406030204" pitchFamily="18" charset="0"/>
                            </a:rPr>
                            <m:t>𝑆</m:t>
                          </m:r>
                        </m:e>
                        <m:sub>
                          <m:r>
                            <a:rPr lang="en-GB" sz="2300" b="0" i="1" smtClean="0">
                              <a:latin typeface="Cambria Math" panose="02040503050406030204" pitchFamily="18" charset="0"/>
                            </a:rPr>
                            <m:t>𝑖</m:t>
                          </m:r>
                        </m:sub>
                      </m:sSub>
                      <m:r>
                        <a:rPr lang="en-GB" sz="2300" b="0" i="1" smtClean="0">
                          <a:latin typeface="Cambria Math" panose="02040503050406030204" pitchFamily="18" charset="0"/>
                        </a:rPr>
                        <m:t>=</m:t>
                      </m:r>
                      <m:nary>
                        <m:naryPr>
                          <m:chr m:val="∑"/>
                          <m:supHide m:val="on"/>
                          <m:ctrlPr>
                            <a:rPr lang="en-GB" sz="2300" b="0" i="1" smtClean="0">
                              <a:latin typeface="Cambria Math" panose="02040503050406030204" pitchFamily="18" charset="0"/>
                            </a:rPr>
                          </m:ctrlPr>
                        </m:naryPr>
                        <m:sub>
                          <m:r>
                            <m:rPr>
                              <m:brk m:alnAt="7"/>
                            </m:rPr>
                            <a:rPr lang="en-GB" sz="2300" b="0" i="1" smtClean="0">
                              <a:latin typeface="Cambria Math" panose="02040503050406030204" pitchFamily="18" charset="0"/>
                            </a:rPr>
                            <m:t>𝑗</m:t>
                          </m:r>
                        </m:sub>
                        <m:sup/>
                        <m:e>
                          <m:sSub>
                            <m:sSubPr>
                              <m:ctrlPr>
                                <a:rPr lang="en-GB" sz="2300" i="1" smtClean="0">
                                  <a:latin typeface="Cambria Math" panose="02040503050406030204" pitchFamily="18" charset="0"/>
                                </a:rPr>
                              </m:ctrlPr>
                            </m:sSubPr>
                            <m:e>
                              <m:r>
                                <a:rPr lang="en-GB" sz="2300" b="0" i="1" smtClean="0">
                                  <a:latin typeface="Cambria Math" panose="02040503050406030204" pitchFamily="18" charset="0"/>
                                </a:rPr>
                                <m:t>𝑤</m:t>
                              </m:r>
                            </m:e>
                            <m:sub>
                              <m:r>
                                <a:rPr lang="en-GB" sz="2300" b="0" i="1" smtClean="0">
                                  <a:latin typeface="Cambria Math" panose="02040503050406030204" pitchFamily="18" charset="0"/>
                                </a:rPr>
                                <m:t>𝑖𝑗</m:t>
                              </m:r>
                            </m:sub>
                          </m:sSub>
                        </m:e>
                      </m:nary>
                      <m:sSub>
                        <m:sSubPr>
                          <m:ctrlPr>
                            <a:rPr lang="en-GB" sz="2300" b="0" i="1" smtClean="0">
                              <a:latin typeface="Cambria Math" panose="02040503050406030204" pitchFamily="18" charset="0"/>
                            </a:rPr>
                          </m:ctrlPr>
                        </m:sSubPr>
                        <m:e>
                          <m:r>
                            <a:rPr lang="en-GB" sz="2300" b="0" i="1" smtClean="0">
                              <a:latin typeface="Cambria Math" panose="02040503050406030204" pitchFamily="18" charset="0"/>
                            </a:rPr>
                            <m:t>𝑠</m:t>
                          </m:r>
                        </m:e>
                        <m:sub>
                          <m:r>
                            <a:rPr lang="en-GB" sz="2300" b="0" i="1" smtClean="0">
                              <a:latin typeface="Cambria Math" panose="02040503050406030204" pitchFamily="18" charset="0"/>
                            </a:rPr>
                            <m:t>𝑗</m:t>
                          </m:r>
                        </m:sub>
                      </m:sSub>
                    </m:oMath>
                  </m:oMathPara>
                </a14:m>
                <a:endParaRPr lang="en-GB" sz="2300" dirty="0"/>
              </a:p>
              <a:p>
                <a:pPr marL="0" indent="0">
                  <a:buNone/>
                </a:pPr>
                <a:r>
                  <a:rPr lang="en-GB" sz="2300" dirty="0"/>
                  <a:t>Where node j is such that there is a directed edge form node j to node </a:t>
                </a:r>
                <a:r>
                  <a:rPr lang="en-GB" sz="2300" dirty="0" err="1"/>
                  <a:t>i</a:t>
                </a:r>
                <a:r>
                  <a:rPr lang="en-GB" sz="2300" dirty="0"/>
                  <a:t>, </a:t>
                </a:r>
                <a14:m>
                  <m:oMath xmlns:m="http://schemas.openxmlformats.org/officeDocument/2006/math">
                    <m:sSub>
                      <m:sSubPr>
                        <m:ctrlPr>
                          <a:rPr lang="en-GB" sz="2300" i="1" smtClean="0">
                            <a:latin typeface="Cambria Math" panose="02040503050406030204" pitchFamily="18" charset="0"/>
                          </a:rPr>
                        </m:ctrlPr>
                      </m:sSubPr>
                      <m:e>
                        <m:r>
                          <a:rPr lang="en-GB" sz="2300" b="0" i="1" smtClean="0">
                            <a:latin typeface="Cambria Math" panose="02040503050406030204" pitchFamily="18" charset="0"/>
                          </a:rPr>
                          <m:t>𝑤</m:t>
                        </m:r>
                      </m:e>
                      <m:sub>
                        <m:r>
                          <a:rPr lang="en-GB" sz="2300" b="0" i="1" smtClean="0">
                            <a:latin typeface="Cambria Math" panose="02040503050406030204" pitchFamily="18" charset="0"/>
                          </a:rPr>
                          <m:t>𝑖𝑗</m:t>
                        </m:r>
                      </m:sub>
                    </m:sSub>
                  </m:oMath>
                </a14:m>
                <a:r>
                  <a:rPr lang="en-GB" sz="2300" dirty="0"/>
                  <a:t> is the weight of the link from j to </a:t>
                </a:r>
                <a:r>
                  <a:rPr lang="en-GB" sz="2300" dirty="0" err="1"/>
                  <a:t>i</a:t>
                </a:r>
                <a:r>
                  <a:rPr lang="en-GB" sz="2300" dirty="0"/>
                  <a:t> and </a:t>
                </a:r>
                <a14:m>
                  <m:oMath xmlns:m="http://schemas.openxmlformats.org/officeDocument/2006/math">
                    <m:sSub>
                      <m:sSubPr>
                        <m:ctrlPr>
                          <a:rPr lang="en-GB" sz="2300" i="1" smtClean="0">
                            <a:latin typeface="Cambria Math" panose="02040503050406030204" pitchFamily="18" charset="0"/>
                          </a:rPr>
                        </m:ctrlPr>
                      </m:sSubPr>
                      <m:e>
                        <m:r>
                          <a:rPr lang="en-GB" sz="2300" b="0" i="1" smtClean="0">
                            <a:latin typeface="Cambria Math" panose="02040503050406030204" pitchFamily="18" charset="0"/>
                          </a:rPr>
                          <m:t>𝑠</m:t>
                        </m:r>
                      </m:e>
                      <m:sub>
                        <m:r>
                          <a:rPr lang="en-GB" sz="2300" b="0" i="1" smtClean="0">
                            <a:latin typeface="Cambria Math" panose="02040503050406030204" pitchFamily="18" charset="0"/>
                          </a:rPr>
                          <m:t>𝑗</m:t>
                        </m:r>
                      </m:sub>
                    </m:sSub>
                  </m:oMath>
                </a14:m>
                <a:r>
                  <a:rPr lang="en-GB" sz="2300" dirty="0"/>
                  <a:t> is the state of node j (s=1 if ON, s=0 if OFF).</a:t>
                </a:r>
              </a:p>
              <a:p>
                <a:pPr marL="0" indent="0">
                  <a:buNone/>
                </a:pPr>
                <a:r>
                  <a:rPr lang="en-GB" sz="2300" dirty="0"/>
                  <a:t>If</a:t>
                </a:r>
                <a:r>
                  <a:rPr lang="en-GB" sz="2300" b="0" dirty="0"/>
                  <a:t> </a:t>
                </a:r>
                <a14:m>
                  <m:oMath xmlns:m="http://schemas.openxmlformats.org/officeDocument/2006/math">
                    <m:sSub>
                      <m:sSubPr>
                        <m:ctrlPr>
                          <a:rPr lang="en-GB" sz="2300" b="0" i="1" smtClean="0">
                            <a:latin typeface="Cambria Math" panose="02040503050406030204" pitchFamily="18" charset="0"/>
                          </a:rPr>
                        </m:ctrlPr>
                      </m:sSubPr>
                      <m:e>
                        <m:r>
                          <a:rPr lang="en-GB" sz="2300" b="0" i="1" smtClean="0">
                            <a:latin typeface="Cambria Math" panose="02040503050406030204" pitchFamily="18" charset="0"/>
                          </a:rPr>
                          <m:t>𝑆</m:t>
                        </m:r>
                      </m:e>
                      <m:sub>
                        <m:r>
                          <a:rPr lang="en-GB" sz="2300" b="0" i="1" smtClean="0">
                            <a:latin typeface="Cambria Math" panose="02040503050406030204" pitchFamily="18" charset="0"/>
                          </a:rPr>
                          <m:t>𝑖</m:t>
                        </m:r>
                      </m:sub>
                    </m:sSub>
                    <m:r>
                      <a:rPr lang="en-GB" sz="2300" b="0" i="1" smtClean="0">
                        <a:latin typeface="Cambria Math" panose="02040503050406030204" pitchFamily="18" charset="0"/>
                      </a:rPr>
                      <m:t> </m:t>
                    </m:r>
                  </m:oMath>
                </a14:m>
                <a:r>
                  <a:rPr lang="en-GB" sz="2300" dirty="0"/>
                  <a:t>&gt;0: then </a:t>
                </a:r>
                <a14:m>
                  <m:oMath xmlns:m="http://schemas.openxmlformats.org/officeDocument/2006/math">
                    <m:sSub>
                      <m:sSubPr>
                        <m:ctrlPr>
                          <a:rPr lang="en-GB" sz="2300" i="1" smtClean="0">
                            <a:latin typeface="Cambria Math" panose="02040503050406030204" pitchFamily="18" charset="0"/>
                          </a:rPr>
                        </m:ctrlPr>
                      </m:sSubPr>
                      <m:e>
                        <m:r>
                          <a:rPr lang="en-GB" sz="2300" b="0" i="1" smtClean="0">
                            <a:latin typeface="Cambria Math" panose="02040503050406030204" pitchFamily="18" charset="0"/>
                          </a:rPr>
                          <m:t>𝑠</m:t>
                        </m:r>
                      </m:e>
                      <m:sub>
                        <m:r>
                          <a:rPr lang="en-GB" sz="2300" b="0" i="1" smtClean="0">
                            <a:latin typeface="Cambria Math" panose="02040503050406030204" pitchFamily="18" charset="0"/>
                          </a:rPr>
                          <m:t>𝑖</m:t>
                        </m:r>
                      </m:sub>
                    </m:sSub>
                  </m:oMath>
                </a14:m>
                <a:r>
                  <a:rPr lang="en-GB" sz="2300" dirty="0"/>
                  <a:t>=1 (ON)</a:t>
                </a:r>
              </a:p>
              <a:p>
                <a:pPr marL="0" indent="0">
                  <a:buNone/>
                </a:pPr>
                <a:r>
                  <a:rPr lang="en-GB" sz="2300" dirty="0"/>
                  <a:t>  </a:t>
                </a:r>
                <a:r>
                  <a:rPr lang="en-GB" sz="2300" b="0" dirty="0"/>
                  <a:t> </a:t>
                </a:r>
                <a14:m>
                  <m:oMath xmlns:m="http://schemas.openxmlformats.org/officeDocument/2006/math">
                    <m:sSub>
                      <m:sSubPr>
                        <m:ctrlPr>
                          <a:rPr lang="en-GB" sz="2300" b="0" i="1" smtClean="0">
                            <a:latin typeface="Cambria Math" panose="02040503050406030204" pitchFamily="18" charset="0"/>
                          </a:rPr>
                        </m:ctrlPr>
                      </m:sSubPr>
                      <m:e>
                        <m:r>
                          <a:rPr lang="en-GB" sz="2300" b="0" i="1" smtClean="0">
                            <a:latin typeface="Cambria Math" panose="02040503050406030204" pitchFamily="18" charset="0"/>
                          </a:rPr>
                          <m:t>𝑆</m:t>
                        </m:r>
                      </m:e>
                      <m:sub>
                        <m:r>
                          <a:rPr lang="en-GB" sz="2300" b="0" i="1" smtClean="0">
                            <a:latin typeface="Cambria Math" panose="02040503050406030204" pitchFamily="18" charset="0"/>
                          </a:rPr>
                          <m:t>𝑖</m:t>
                        </m:r>
                      </m:sub>
                    </m:sSub>
                    <m:r>
                      <a:rPr lang="en-GB" sz="2300" b="0" i="1" smtClean="0">
                        <a:latin typeface="Cambria Math" panose="02040503050406030204" pitchFamily="18" charset="0"/>
                      </a:rPr>
                      <m:t> </m:t>
                    </m:r>
                  </m:oMath>
                </a14:m>
                <a:r>
                  <a:rPr lang="en-GB" sz="2300" dirty="0"/>
                  <a:t>=0: then </a:t>
                </a:r>
                <a14:m>
                  <m:oMath xmlns:m="http://schemas.openxmlformats.org/officeDocument/2006/math">
                    <m:sSub>
                      <m:sSubPr>
                        <m:ctrlPr>
                          <a:rPr lang="en-GB" sz="2300" i="1" smtClean="0">
                            <a:latin typeface="Cambria Math" panose="02040503050406030204" pitchFamily="18" charset="0"/>
                          </a:rPr>
                        </m:ctrlPr>
                      </m:sSubPr>
                      <m:e>
                        <m:r>
                          <a:rPr lang="en-GB" sz="2300" b="0" i="1" smtClean="0">
                            <a:latin typeface="Cambria Math" panose="02040503050406030204" pitchFamily="18" charset="0"/>
                          </a:rPr>
                          <m:t>𝑠</m:t>
                        </m:r>
                      </m:e>
                      <m:sub>
                        <m:r>
                          <a:rPr lang="en-GB" sz="2300" b="0" i="1" smtClean="0">
                            <a:latin typeface="Cambria Math" panose="02040503050406030204" pitchFamily="18" charset="0"/>
                          </a:rPr>
                          <m:t>𝑖</m:t>
                        </m:r>
                      </m:sub>
                    </m:sSub>
                  </m:oMath>
                </a14:m>
                <a:r>
                  <a:rPr lang="en-GB" sz="2300" dirty="0"/>
                  <a:t> is left unchanged</a:t>
                </a:r>
              </a:p>
              <a:p>
                <a:pPr marL="0" indent="0">
                  <a:buNone/>
                </a:pPr>
                <a:r>
                  <a:rPr lang="en-GB" sz="2300" dirty="0"/>
                  <a:t>  </a:t>
                </a:r>
                <a:r>
                  <a:rPr lang="en-GB" sz="2300" b="0" dirty="0"/>
                  <a:t> </a:t>
                </a:r>
                <a14:m>
                  <m:oMath xmlns:m="http://schemas.openxmlformats.org/officeDocument/2006/math">
                    <m:sSub>
                      <m:sSubPr>
                        <m:ctrlPr>
                          <a:rPr lang="en-GB" sz="2300" b="0" i="1" smtClean="0">
                            <a:latin typeface="Cambria Math" panose="02040503050406030204" pitchFamily="18" charset="0"/>
                          </a:rPr>
                        </m:ctrlPr>
                      </m:sSubPr>
                      <m:e>
                        <m:r>
                          <a:rPr lang="en-GB" sz="2300" b="0" i="1" smtClean="0">
                            <a:latin typeface="Cambria Math" panose="02040503050406030204" pitchFamily="18" charset="0"/>
                          </a:rPr>
                          <m:t>𝑆</m:t>
                        </m:r>
                      </m:e>
                      <m:sub>
                        <m:r>
                          <a:rPr lang="en-GB" sz="2300" b="0" i="1" smtClean="0">
                            <a:latin typeface="Cambria Math" panose="02040503050406030204" pitchFamily="18" charset="0"/>
                          </a:rPr>
                          <m:t>𝑖</m:t>
                        </m:r>
                      </m:sub>
                    </m:sSub>
                    <m:r>
                      <a:rPr lang="en-GB" sz="2300" b="0" i="1" smtClean="0">
                        <a:latin typeface="Cambria Math" panose="02040503050406030204" pitchFamily="18" charset="0"/>
                      </a:rPr>
                      <m:t> </m:t>
                    </m:r>
                  </m:oMath>
                </a14:m>
                <a:r>
                  <a:rPr lang="en-GB" sz="2300" dirty="0"/>
                  <a:t>&lt;0: then </a:t>
                </a:r>
                <a14:m>
                  <m:oMath xmlns:m="http://schemas.openxmlformats.org/officeDocument/2006/math">
                    <m:sSub>
                      <m:sSubPr>
                        <m:ctrlPr>
                          <a:rPr lang="en-GB" sz="2300" i="1" smtClean="0">
                            <a:latin typeface="Cambria Math" panose="02040503050406030204" pitchFamily="18" charset="0"/>
                          </a:rPr>
                        </m:ctrlPr>
                      </m:sSubPr>
                      <m:e>
                        <m:r>
                          <a:rPr lang="en-GB" sz="2300" b="0" i="1" smtClean="0">
                            <a:latin typeface="Cambria Math" panose="02040503050406030204" pitchFamily="18" charset="0"/>
                          </a:rPr>
                          <m:t>𝑠</m:t>
                        </m:r>
                      </m:e>
                      <m:sub>
                        <m:r>
                          <a:rPr lang="en-GB" sz="2300" b="0" i="1" smtClean="0">
                            <a:latin typeface="Cambria Math" panose="02040503050406030204" pitchFamily="18" charset="0"/>
                          </a:rPr>
                          <m:t>𝑖</m:t>
                        </m:r>
                      </m:sub>
                    </m:sSub>
                  </m:oMath>
                </a14:m>
                <a:r>
                  <a:rPr lang="en-GB" sz="2300" dirty="0"/>
                  <a:t>=0 (OFF)</a:t>
                </a:r>
              </a:p>
              <a:p>
                <a:pPr marL="0" indent="0">
                  <a:buNone/>
                </a:pPr>
                <a:r>
                  <a:rPr lang="en-GB" sz="2300" dirty="0"/>
                  <a:t>i.e. If there are more incoming positive links then negative links from ON nodes, the node is turned ON, if they are equal the node is left unchanged and the node is turned OFF if there are more negative incoming links than positive coming from ON nodes.</a:t>
                </a:r>
              </a:p>
            </p:txBody>
          </p:sp>
        </mc:Choice>
        <mc:Fallback xmlns="">
          <p:sp>
            <p:nvSpPr>
              <p:cNvPr id="3" name="Content Placeholder 2">
                <a:extLst>
                  <a:ext uri="{FF2B5EF4-FFF2-40B4-BE49-F238E27FC236}">
                    <a16:creationId xmlns:a16="http://schemas.microsoft.com/office/drawing/2014/main" id="{A604A99D-FE27-1A9C-8174-953348B42447}"/>
                  </a:ext>
                </a:extLst>
              </p:cNvPr>
              <p:cNvSpPr>
                <a:spLocks noGrp="1" noRot="1" noChangeAspect="1" noMove="1" noResize="1" noEditPoints="1" noAdjustHandles="1" noChangeArrowheads="1" noChangeShapeType="1" noTextEdit="1"/>
              </p:cNvSpPr>
              <p:nvPr>
                <p:ph idx="1"/>
              </p:nvPr>
            </p:nvSpPr>
            <p:spPr>
              <a:xfrm>
                <a:off x="838200" y="1407381"/>
                <a:ext cx="10515600" cy="4769582"/>
              </a:xfrm>
              <a:blipFill>
                <a:blip r:embed="rId2"/>
                <a:stretch>
                  <a:fillRect l="-870" t="-1790" r="-754" b="-8824"/>
                </a:stretch>
              </a:blipFill>
            </p:spPr>
            <p:txBody>
              <a:bodyPr/>
              <a:lstStyle/>
              <a:p>
                <a:r>
                  <a:rPr lang="en-GB">
                    <a:noFill/>
                  </a:rPr>
                  <a:t> </a:t>
                </a:r>
              </a:p>
            </p:txBody>
          </p:sp>
        </mc:Fallback>
      </mc:AlternateContent>
    </p:spTree>
    <p:extLst>
      <p:ext uri="{BB962C8B-B14F-4D97-AF65-F5344CB8AC3E}">
        <p14:creationId xmlns:p14="http://schemas.microsoft.com/office/powerpoint/2010/main" val="1723647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36B6B-97F8-1516-7773-B63552B1FCA1}"/>
              </a:ext>
            </a:extLst>
          </p:cNvPr>
          <p:cNvSpPr>
            <a:spLocks noGrp="1"/>
          </p:cNvSpPr>
          <p:nvPr>
            <p:ph type="title"/>
          </p:nvPr>
        </p:nvSpPr>
        <p:spPr>
          <a:xfrm>
            <a:off x="774590" y="38380"/>
            <a:ext cx="10515600" cy="1325563"/>
          </a:xfrm>
        </p:spPr>
        <p:txBody>
          <a:bodyPr/>
          <a:lstStyle/>
          <a:p>
            <a:r>
              <a:rPr lang="en-GB" dirty="0"/>
              <a:t>Example</a:t>
            </a:r>
          </a:p>
        </p:txBody>
      </p:sp>
      <p:sp>
        <p:nvSpPr>
          <p:cNvPr id="4" name="Oval 3">
            <a:extLst>
              <a:ext uri="{FF2B5EF4-FFF2-40B4-BE49-F238E27FC236}">
                <a16:creationId xmlns:a16="http://schemas.microsoft.com/office/drawing/2014/main" id="{35B38555-1E3A-430B-40A7-9A47B80C5DEB}"/>
              </a:ext>
            </a:extLst>
          </p:cNvPr>
          <p:cNvSpPr/>
          <p:nvPr/>
        </p:nvSpPr>
        <p:spPr>
          <a:xfrm>
            <a:off x="914400" y="3244131"/>
            <a:ext cx="667909" cy="66790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5A3E2013-63EF-BF54-FC48-7F8D7FCA7B23}"/>
              </a:ext>
            </a:extLst>
          </p:cNvPr>
          <p:cNvSpPr/>
          <p:nvPr/>
        </p:nvSpPr>
        <p:spPr>
          <a:xfrm>
            <a:off x="2490084" y="1472316"/>
            <a:ext cx="667909" cy="667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187EC0A2-D257-0055-31D4-1C558EE0C8A3}"/>
              </a:ext>
            </a:extLst>
          </p:cNvPr>
          <p:cNvSpPr/>
          <p:nvPr/>
        </p:nvSpPr>
        <p:spPr>
          <a:xfrm>
            <a:off x="3157993" y="2910177"/>
            <a:ext cx="667909" cy="667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a:extLst>
              <a:ext uri="{FF2B5EF4-FFF2-40B4-BE49-F238E27FC236}">
                <a16:creationId xmlns:a16="http://schemas.microsoft.com/office/drawing/2014/main" id="{74237BF5-5382-43CC-8080-9C0B1B4841A8}"/>
              </a:ext>
            </a:extLst>
          </p:cNvPr>
          <p:cNvCxnSpPr>
            <a:cxnSpLocks/>
            <a:stCxn id="4" idx="7"/>
            <a:endCxn id="5" idx="3"/>
          </p:cNvCxnSpPr>
          <p:nvPr/>
        </p:nvCxnSpPr>
        <p:spPr>
          <a:xfrm flipV="1">
            <a:off x="1484496" y="2042412"/>
            <a:ext cx="1103401" cy="129953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08DAF2B-B4E9-17F7-F85A-84253879DEC0}"/>
              </a:ext>
            </a:extLst>
          </p:cNvPr>
          <p:cNvCxnSpPr>
            <a:cxnSpLocks/>
            <a:stCxn id="4" idx="6"/>
            <a:endCxn id="6" idx="2"/>
          </p:cNvCxnSpPr>
          <p:nvPr/>
        </p:nvCxnSpPr>
        <p:spPr>
          <a:xfrm flipV="1">
            <a:off x="1582309" y="3244132"/>
            <a:ext cx="1575684" cy="3339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60D2A1E-C39D-3145-6E03-CC45387CE0FB}"/>
              </a:ext>
            </a:extLst>
          </p:cNvPr>
          <p:cNvCxnSpPr>
            <a:cxnSpLocks/>
            <a:stCxn id="6" idx="0"/>
            <a:endCxn id="5" idx="5"/>
          </p:cNvCxnSpPr>
          <p:nvPr/>
        </p:nvCxnSpPr>
        <p:spPr>
          <a:xfrm flipH="1" flipV="1">
            <a:off x="3060180" y="2042412"/>
            <a:ext cx="431768" cy="8677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B7B55C7-ABB8-5EB7-83F6-EEEA512C0204}"/>
              </a:ext>
            </a:extLst>
          </p:cNvPr>
          <p:cNvSpPr txBox="1"/>
          <p:nvPr/>
        </p:nvSpPr>
        <p:spPr>
          <a:xfrm>
            <a:off x="1083239" y="3312141"/>
            <a:ext cx="401257" cy="477054"/>
          </a:xfrm>
          <a:prstGeom prst="rect">
            <a:avLst/>
          </a:prstGeom>
          <a:noFill/>
        </p:spPr>
        <p:txBody>
          <a:bodyPr wrap="square" rtlCol="0">
            <a:spAutoFit/>
          </a:bodyPr>
          <a:lstStyle/>
          <a:p>
            <a:r>
              <a:rPr lang="en-GB" sz="2500" dirty="0">
                <a:solidFill>
                  <a:schemeClr val="bg1"/>
                </a:solidFill>
                <a:latin typeface="Abadi" panose="020B0604020104020204" pitchFamily="34" charset="0"/>
              </a:rPr>
              <a:t>0</a:t>
            </a:r>
          </a:p>
        </p:txBody>
      </p:sp>
      <p:sp>
        <p:nvSpPr>
          <p:cNvPr id="11" name="TextBox 10">
            <a:extLst>
              <a:ext uri="{FF2B5EF4-FFF2-40B4-BE49-F238E27FC236}">
                <a16:creationId xmlns:a16="http://schemas.microsoft.com/office/drawing/2014/main" id="{4B076730-D4CB-8A34-130C-809E836A92B4}"/>
              </a:ext>
            </a:extLst>
          </p:cNvPr>
          <p:cNvSpPr txBox="1"/>
          <p:nvPr/>
        </p:nvSpPr>
        <p:spPr>
          <a:xfrm>
            <a:off x="2658923" y="1542093"/>
            <a:ext cx="401257" cy="477054"/>
          </a:xfrm>
          <a:prstGeom prst="rect">
            <a:avLst/>
          </a:prstGeom>
          <a:noFill/>
        </p:spPr>
        <p:txBody>
          <a:bodyPr wrap="square" rtlCol="0">
            <a:spAutoFit/>
          </a:bodyPr>
          <a:lstStyle/>
          <a:p>
            <a:r>
              <a:rPr lang="en-GB" sz="2500" dirty="0">
                <a:solidFill>
                  <a:schemeClr val="bg1"/>
                </a:solidFill>
                <a:latin typeface="Abadi" panose="020B0604020104020204" pitchFamily="34" charset="0"/>
              </a:rPr>
              <a:t>1</a:t>
            </a:r>
          </a:p>
        </p:txBody>
      </p:sp>
      <p:sp>
        <p:nvSpPr>
          <p:cNvPr id="12" name="TextBox 11">
            <a:extLst>
              <a:ext uri="{FF2B5EF4-FFF2-40B4-BE49-F238E27FC236}">
                <a16:creationId xmlns:a16="http://schemas.microsoft.com/office/drawing/2014/main" id="{36AB69FA-8B8D-BD5E-609E-703BE94EB777}"/>
              </a:ext>
            </a:extLst>
          </p:cNvPr>
          <p:cNvSpPr txBox="1"/>
          <p:nvPr/>
        </p:nvSpPr>
        <p:spPr>
          <a:xfrm>
            <a:off x="3326832" y="3003219"/>
            <a:ext cx="401257" cy="477054"/>
          </a:xfrm>
          <a:prstGeom prst="rect">
            <a:avLst/>
          </a:prstGeom>
          <a:noFill/>
        </p:spPr>
        <p:txBody>
          <a:bodyPr wrap="square" rtlCol="0">
            <a:spAutoFit/>
          </a:bodyPr>
          <a:lstStyle/>
          <a:p>
            <a:r>
              <a:rPr lang="en-GB" sz="2500" dirty="0">
                <a:solidFill>
                  <a:schemeClr val="bg1"/>
                </a:solidFill>
                <a:latin typeface="Abadi" panose="020B0604020104020204" pitchFamily="34" charset="0"/>
              </a:rPr>
              <a:t>2</a:t>
            </a:r>
          </a:p>
        </p:txBody>
      </p:sp>
      <p:graphicFrame>
        <p:nvGraphicFramePr>
          <p:cNvPr id="13" name="Table 13">
            <a:extLst>
              <a:ext uri="{FF2B5EF4-FFF2-40B4-BE49-F238E27FC236}">
                <a16:creationId xmlns:a16="http://schemas.microsoft.com/office/drawing/2014/main" id="{8C2C933D-FF04-48E9-A145-3D85EBDCAB9A}"/>
              </a:ext>
            </a:extLst>
          </p:cNvPr>
          <p:cNvGraphicFramePr>
            <a:graphicFrameLocks noGrp="1"/>
          </p:cNvGraphicFramePr>
          <p:nvPr>
            <p:extLst>
              <p:ext uri="{D42A27DB-BD31-4B8C-83A1-F6EECF244321}">
                <p14:modId xmlns:p14="http://schemas.microsoft.com/office/powerpoint/2010/main" val="3233137690"/>
              </p:ext>
            </p:extLst>
          </p:nvPr>
        </p:nvGraphicFramePr>
        <p:xfrm>
          <a:off x="4046802" y="1240369"/>
          <a:ext cx="7370608" cy="3525700"/>
        </p:xfrm>
        <a:graphic>
          <a:graphicData uri="http://schemas.openxmlformats.org/drawingml/2006/table">
            <a:tbl>
              <a:tblPr firstRow="1" bandRow="1">
                <a:tableStyleId>{5940675A-B579-460E-94D1-54222C63F5DA}</a:tableStyleId>
              </a:tblPr>
              <a:tblGrid>
                <a:gridCol w="1842652">
                  <a:extLst>
                    <a:ext uri="{9D8B030D-6E8A-4147-A177-3AD203B41FA5}">
                      <a16:colId xmlns:a16="http://schemas.microsoft.com/office/drawing/2014/main" val="2810659711"/>
                    </a:ext>
                  </a:extLst>
                </a:gridCol>
                <a:gridCol w="1842652">
                  <a:extLst>
                    <a:ext uri="{9D8B030D-6E8A-4147-A177-3AD203B41FA5}">
                      <a16:colId xmlns:a16="http://schemas.microsoft.com/office/drawing/2014/main" val="888488991"/>
                    </a:ext>
                  </a:extLst>
                </a:gridCol>
                <a:gridCol w="1842652">
                  <a:extLst>
                    <a:ext uri="{9D8B030D-6E8A-4147-A177-3AD203B41FA5}">
                      <a16:colId xmlns:a16="http://schemas.microsoft.com/office/drawing/2014/main" val="3383848100"/>
                    </a:ext>
                  </a:extLst>
                </a:gridCol>
                <a:gridCol w="1842652">
                  <a:extLst>
                    <a:ext uri="{9D8B030D-6E8A-4147-A177-3AD203B41FA5}">
                      <a16:colId xmlns:a16="http://schemas.microsoft.com/office/drawing/2014/main" val="3005405699"/>
                    </a:ext>
                  </a:extLst>
                </a:gridCol>
              </a:tblGrid>
              <a:tr h="665570">
                <a:tc>
                  <a:txBody>
                    <a:bodyPr/>
                    <a:lstStyle/>
                    <a:p>
                      <a:r>
                        <a:rPr lang="en-GB" sz="1400" dirty="0">
                          <a:latin typeface="Abadi" panose="020B0604020104020204" pitchFamily="34" charset="0"/>
                        </a:rPr>
                        <a:t>Time step</a:t>
                      </a:r>
                    </a:p>
                  </a:txBody>
                  <a:tcPr/>
                </a:tc>
                <a:tc>
                  <a:txBody>
                    <a:bodyPr/>
                    <a:lstStyle/>
                    <a:p>
                      <a:r>
                        <a:rPr lang="en-GB" sz="1400" dirty="0">
                          <a:latin typeface="Abadi" panose="020B0604020104020204" pitchFamily="34" charset="0"/>
                        </a:rPr>
                        <a:t>State of node 0</a:t>
                      </a:r>
                    </a:p>
                  </a:txBody>
                  <a:tcPr/>
                </a:tc>
                <a:tc>
                  <a:txBody>
                    <a:bodyPr/>
                    <a:lstStyle/>
                    <a:p>
                      <a:r>
                        <a:rPr lang="en-GB" sz="1400" dirty="0">
                          <a:latin typeface="Abadi" panose="020B0604020104020204" pitchFamily="34" charset="0"/>
                        </a:rPr>
                        <a:t>State of node 1</a:t>
                      </a:r>
                    </a:p>
                  </a:txBody>
                  <a:tcPr/>
                </a:tc>
                <a:tc>
                  <a:txBody>
                    <a:bodyPr/>
                    <a:lstStyle/>
                    <a:p>
                      <a:r>
                        <a:rPr lang="en-GB" sz="1400" dirty="0">
                          <a:latin typeface="Abadi" panose="020B0604020104020204" pitchFamily="34" charset="0"/>
                        </a:rPr>
                        <a:t>State of node 2</a:t>
                      </a:r>
                    </a:p>
                  </a:txBody>
                  <a:tcPr/>
                </a:tc>
                <a:extLst>
                  <a:ext uri="{0D108BD9-81ED-4DB2-BD59-A6C34878D82A}">
                    <a16:rowId xmlns:a16="http://schemas.microsoft.com/office/drawing/2014/main" val="1672266042"/>
                  </a:ext>
                </a:extLst>
              </a:tr>
              <a:tr h="665570">
                <a:tc>
                  <a:txBody>
                    <a:bodyPr/>
                    <a:lstStyle/>
                    <a:p>
                      <a:r>
                        <a:rPr lang="en-GB" sz="1400" dirty="0">
                          <a:latin typeface="Abadi" panose="020B0604020104020204" pitchFamily="34" charset="0"/>
                        </a:rPr>
                        <a:t>t=0</a:t>
                      </a:r>
                    </a:p>
                  </a:txBody>
                  <a:tcPr/>
                </a:tc>
                <a:tc>
                  <a:txBody>
                    <a:bodyPr/>
                    <a:lstStyle/>
                    <a:p>
                      <a:r>
                        <a:rPr lang="en-GB" sz="1400" dirty="0">
                          <a:latin typeface="Abadi" panose="020B0604020104020204" pitchFamily="34" charset="0"/>
                        </a:rPr>
                        <a:t>1</a:t>
                      </a:r>
                    </a:p>
                  </a:txBody>
                  <a:tcPr/>
                </a:tc>
                <a:tc>
                  <a:txBody>
                    <a:bodyPr/>
                    <a:lstStyle/>
                    <a:p>
                      <a:r>
                        <a:rPr lang="en-GB" sz="1400" dirty="0">
                          <a:latin typeface="Abadi" panose="020B0604020104020204" pitchFamily="34" charset="0"/>
                        </a:rPr>
                        <a:t>1</a:t>
                      </a:r>
                    </a:p>
                  </a:txBody>
                  <a:tcPr/>
                </a:tc>
                <a:tc>
                  <a:txBody>
                    <a:bodyPr/>
                    <a:lstStyle/>
                    <a:p>
                      <a:r>
                        <a:rPr lang="en-GB" sz="1400" dirty="0">
                          <a:latin typeface="Abadi" panose="020B0604020104020204" pitchFamily="34" charset="0"/>
                        </a:rPr>
                        <a:t>1</a:t>
                      </a:r>
                    </a:p>
                  </a:txBody>
                  <a:tcPr/>
                </a:tc>
                <a:extLst>
                  <a:ext uri="{0D108BD9-81ED-4DB2-BD59-A6C34878D82A}">
                    <a16:rowId xmlns:a16="http://schemas.microsoft.com/office/drawing/2014/main" val="2614473630"/>
                  </a:ext>
                </a:extLst>
              </a:tr>
              <a:tr h="665570">
                <a:tc>
                  <a:txBody>
                    <a:bodyPr/>
                    <a:lstStyle/>
                    <a:p>
                      <a:r>
                        <a:rPr lang="en-GB" sz="1400" dirty="0">
                          <a:latin typeface="Abadi" panose="020B0604020104020204" pitchFamily="34" charset="0"/>
                        </a:rPr>
                        <a:t>t=1</a:t>
                      </a:r>
                    </a:p>
                  </a:txBody>
                  <a:tcPr/>
                </a:tc>
                <a:tc>
                  <a:txBody>
                    <a:bodyPr/>
                    <a:lstStyle/>
                    <a:p>
                      <a:r>
                        <a:rPr lang="en-GB" sz="1400" dirty="0">
                          <a:latin typeface="Abadi" panose="020B0604020104020204" pitchFamily="34" charset="0"/>
                        </a:rPr>
                        <a:t>S=0 </a:t>
                      </a:r>
                    </a:p>
                    <a:p>
                      <a:r>
                        <a:rPr lang="en-GB" sz="1400" dirty="0">
                          <a:latin typeface="Abadi" panose="020B0604020104020204" pitchFamily="34" charset="0"/>
                        </a:rPr>
                        <a:t>unchanged</a:t>
                      </a:r>
                    </a:p>
                    <a:p>
                      <a:r>
                        <a:rPr lang="en-GB" sz="1400" dirty="0">
                          <a:latin typeface="Abadi" panose="020B0604020104020204" pitchFamily="34" charset="0"/>
                        </a:rPr>
                        <a:t>1</a:t>
                      </a:r>
                    </a:p>
                  </a:txBody>
                  <a:tcPr/>
                </a:tc>
                <a:tc>
                  <a:txBody>
                    <a:bodyPr/>
                    <a:lstStyle/>
                    <a:p>
                      <a:r>
                        <a:rPr lang="en-GB" sz="1400" dirty="0">
                          <a:latin typeface="Abadi" panose="020B0604020104020204" pitchFamily="34" charset="0"/>
                        </a:rPr>
                        <a:t>S=(+1)*1+(-1)*1=0</a:t>
                      </a:r>
                    </a:p>
                    <a:p>
                      <a:r>
                        <a:rPr lang="en-GB" sz="1400" dirty="0">
                          <a:latin typeface="Abadi" panose="020B0604020104020204" pitchFamily="34" charset="0"/>
                        </a:rPr>
                        <a:t>unchanged</a:t>
                      </a:r>
                    </a:p>
                    <a:p>
                      <a:r>
                        <a:rPr lang="en-GB" sz="1400" dirty="0">
                          <a:latin typeface="Abadi" panose="020B0604020104020204" pitchFamily="34" charset="0"/>
                        </a:rPr>
                        <a:t>1</a:t>
                      </a:r>
                    </a:p>
                  </a:txBody>
                  <a:tcPr/>
                </a:tc>
                <a:tc>
                  <a:txBody>
                    <a:bodyPr/>
                    <a:lstStyle/>
                    <a:p>
                      <a:r>
                        <a:rPr lang="en-GB" sz="1400" dirty="0">
                          <a:latin typeface="Abadi" panose="020B0604020104020204" pitchFamily="34" charset="0"/>
                        </a:rPr>
                        <a:t>S=(-1)*1=-1</a:t>
                      </a:r>
                    </a:p>
                    <a:p>
                      <a:r>
                        <a:rPr lang="en-GB" sz="1400" dirty="0">
                          <a:latin typeface="Abadi" panose="020B0604020104020204" pitchFamily="34" charset="0"/>
                        </a:rPr>
                        <a:t>Set to OFF</a:t>
                      </a:r>
                    </a:p>
                    <a:p>
                      <a:r>
                        <a:rPr lang="en-GB" sz="1400" dirty="0">
                          <a:latin typeface="Abadi" panose="020B0604020104020204" pitchFamily="34" charset="0"/>
                        </a:rPr>
                        <a:t>0</a:t>
                      </a:r>
                    </a:p>
                  </a:txBody>
                  <a:tcPr/>
                </a:tc>
                <a:extLst>
                  <a:ext uri="{0D108BD9-81ED-4DB2-BD59-A6C34878D82A}">
                    <a16:rowId xmlns:a16="http://schemas.microsoft.com/office/drawing/2014/main" val="2358571334"/>
                  </a:ext>
                </a:extLst>
              </a:tr>
              <a:tr h="665570">
                <a:tc>
                  <a:txBody>
                    <a:bodyPr/>
                    <a:lstStyle/>
                    <a:p>
                      <a:r>
                        <a:rPr lang="en-GB" sz="1400" dirty="0">
                          <a:latin typeface="Abadi" panose="020B0604020104020204" pitchFamily="34" charset="0"/>
                        </a:rPr>
                        <a:t>t=2</a:t>
                      </a:r>
                    </a:p>
                  </a:txBody>
                  <a:tcPr/>
                </a:tc>
                <a:tc>
                  <a:txBody>
                    <a:bodyPr/>
                    <a:lstStyle/>
                    <a:p>
                      <a:r>
                        <a:rPr lang="en-GB" sz="1400" dirty="0">
                          <a:latin typeface="Abadi" panose="020B0604020104020204" pitchFamily="34" charset="0"/>
                        </a:rPr>
                        <a:t>S=0</a:t>
                      </a:r>
                    </a:p>
                    <a:p>
                      <a:r>
                        <a:rPr lang="en-GB" sz="1400" dirty="0">
                          <a:latin typeface="Abadi" panose="020B0604020104020204" pitchFamily="34" charset="0"/>
                        </a:rPr>
                        <a:t>unchanged</a:t>
                      </a:r>
                    </a:p>
                    <a:p>
                      <a:r>
                        <a:rPr lang="en-GB" sz="1400" dirty="0">
                          <a:latin typeface="Abadi" panose="020B0604020104020204" pitchFamily="34" charset="0"/>
                        </a:rPr>
                        <a:t>1</a:t>
                      </a:r>
                    </a:p>
                  </a:txBody>
                  <a:tcPr/>
                </a:tc>
                <a:tc>
                  <a:txBody>
                    <a:bodyPr/>
                    <a:lstStyle/>
                    <a:p>
                      <a:r>
                        <a:rPr lang="en-GB" sz="1400" dirty="0">
                          <a:latin typeface="Abadi" panose="020B0604020104020204" pitchFamily="34" charset="0"/>
                        </a:rPr>
                        <a:t>S=(+1)*1+(-1)*0=1</a:t>
                      </a:r>
                    </a:p>
                    <a:p>
                      <a:r>
                        <a:rPr lang="en-GB" sz="1400" dirty="0">
                          <a:latin typeface="Abadi" panose="020B0604020104020204" pitchFamily="34" charset="0"/>
                        </a:rPr>
                        <a:t>Set to ON</a:t>
                      </a:r>
                    </a:p>
                    <a:p>
                      <a:r>
                        <a:rPr lang="en-GB" sz="1400" dirty="0">
                          <a:latin typeface="Abadi" panose="020B0604020104020204" pitchFamily="34" charset="0"/>
                        </a:rPr>
                        <a:t>1</a:t>
                      </a:r>
                    </a:p>
                  </a:txBody>
                  <a:tcPr/>
                </a:tc>
                <a:tc>
                  <a:txBody>
                    <a:bodyPr/>
                    <a:lstStyle/>
                    <a:p>
                      <a:r>
                        <a:rPr lang="en-GB" sz="1400" dirty="0">
                          <a:latin typeface="Abadi" panose="020B0604020104020204" pitchFamily="34" charset="0"/>
                        </a:rPr>
                        <a:t>S=(-1)*1=-1</a:t>
                      </a:r>
                    </a:p>
                    <a:p>
                      <a:r>
                        <a:rPr lang="en-GB" sz="1400" dirty="0">
                          <a:latin typeface="Abadi" panose="020B0604020104020204" pitchFamily="34" charset="0"/>
                        </a:rPr>
                        <a:t>Set to OFF</a:t>
                      </a:r>
                    </a:p>
                    <a:p>
                      <a:r>
                        <a:rPr lang="en-GB" sz="1400" dirty="0">
                          <a:latin typeface="Abadi" panose="020B0604020104020204" pitchFamily="34" charset="0"/>
                        </a:rPr>
                        <a:t>0</a:t>
                      </a:r>
                    </a:p>
                  </a:txBody>
                  <a:tcPr/>
                </a:tc>
                <a:extLst>
                  <a:ext uri="{0D108BD9-81ED-4DB2-BD59-A6C34878D82A}">
                    <a16:rowId xmlns:a16="http://schemas.microsoft.com/office/drawing/2014/main" val="2378360879"/>
                  </a:ext>
                </a:extLst>
              </a:tr>
              <a:tr h="665570">
                <a:tc>
                  <a:txBody>
                    <a:bodyPr/>
                    <a:lstStyle/>
                    <a:p>
                      <a:r>
                        <a:rPr lang="en-GB" sz="1400" dirty="0">
                          <a:latin typeface="Abadi" panose="020B0604020104020204" pitchFamily="34" charset="0"/>
                        </a:rPr>
                        <a:t>t=3</a:t>
                      </a:r>
                    </a:p>
                  </a:txBody>
                  <a:tcPr/>
                </a:tc>
                <a:tc>
                  <a:txBody>
                    <a:bodyPr/>
                    <a:lstStyle/>
                    <a:p>
                      <a:r>
                        <a:rPr lang="en-GB" sz="1400" dirty="0">
                          <a:latin typeface="Abadi" panose="020B0604020104020204" pitchFamily="34" charset="0"/>
                        </a:rPr>
                        <a:t>S=0</a:t>
                      </a:r>
                    </a:p>
                    <a:p>
                      <a:r>
                        <a:rPr lang="en-GB" sz="1400" dirty="0">
                          <a:latin typeface="Abadi" panose="020B0604020104020204" pitchFamily="34" charset="0"/>
                        </a:rPr>
                        <a:t>unchanged</a:t>
                      </a:r>
                    </a:p>
                    <a:p>
                      <a:r>
                        <a:rPr lang="en-GB" sz="1400" dirty="0">
                          <a:latin typeface="Abadi" panose="020B0604020104020204" pitchFamily="34" charset="0"/>
                        </a:rPr>
                        <a:t>1</a:t>
                      </a:r>
                    </a:p>
                  </a:txBody>
                  <a:tcPr/>
                </a:tc>
                <a:tc>
                  <a:txBody>
                    <a:bodyPr/>
                    <a:lstStyle/>
                    <a:p>
                      <a:r>
                        <a:rPr lang="en-GB" sz="1400" dirty="0">
                          <a:latin typeface="Abadi" panose="020B0604020104020204" pitchFamily="34" charset="0"/>
                        </a:rPr>
                        <a:t>S=(+1)*1+(-1)*0=1</a:t>
                      </a:r>
                    </a:p>
                    <a:p>
                      <a:r>
                        <a:rPr lang="en-GB" sz="1400" dirty="0">
                          <a:latin typeface="Abadi" panose="020B0604020104020204" pitchFamily="34" charset="0"/>
                        </a:rPr>
                        <a:t>Set to ON</a:t>
                      </a:r>
                    </a:p>
                    <a:p>
                      <a:r>
                        <a:rPr lang="en-GB" sz="1400" dirty="0">
                          <a:latin typeface="Abadi" panose="020B0604020104020204" pitchFamily="34" charset="0"/>
                        </a:rPr>
                        <a:t>1</a:t>
                      </a:r>
                    </a:p>
                  </a:txBody>
                  <a:tcPr/>
                </a:tc>
                <a:tc>
                  <a:txBody>
                    <a:bodyPr/>
                    <a:lstStyle/>
                    <a:p>
                      <a:r>
                        <a:rPr lang="en-GB" sz="1400" dirty="0">
                          <a:latin typeface="Abadi" panose="020B0604020104020204" pitchFamily="34" charset="0"/>
                        </a:rPr>
                        <a:t>S=(-1)*1=-1</a:t>
                      </a:r>
                    </a:p>
                    <a:p>
                      <a:r>
                        <a:rPr lang="en-GB" sz="1400" dirty="0">
                          <a:latin typeface="Abadi" panose="020B0604020104020204" pitchFamily="34" charset="0"/>
                        </a:rPr>
                        <a:t>Set to OFF</a:t>
                      </a:r>
                    </a:p>
                    <a:p>
                      <a:r>
                        <a:rPr lang="en-GB" sz="1400" dirty="0">
                          <a:latin typeface="Abadi" panose="020B0604020104020204" pitchFamily="34" charset="0"/>
                        </a:rPr>
                        <a:t>0</a:t>
                      </a:r>
                    </a:p>
                  </a:txBody>
                  <a:tcPr/>
                </a:tc>
                <a:extLst>
                  <a:ext uri="{0D108BD9-81ED-4DB2-BD59-A6C34878D82A}">
                    <a16:rowId xmlns:a16="http://schemas.microsoft.com/office/drawing/2014/main" val="2151860322"/>
                  </a:ext>
                </a:extLst>
              </a:tr>
            </a:tbl>
          </a:graphicData>
        </a:graphic>
      </p:graphicFrame>
      <p:sp>
        <p:nvSpPr>
          <p:cNvPr id="14" name="TextBox 13">
            <a:extLst>
              <a:ext uri="{FF2B5EF4-FFF2-40B4-BE49-F238E27FC236}">
                <a16:creationId xmlns:a16="http://schemas.microsoft.com/office/drawing/2014/main" id="{BFA5C1B8-CC7B-D29D-3E8B-9F02FF558088}"/>
              </a:ext>
            </a:extLst>
          </p:cNvPr>
          <p:cNvSpPr txBox="1"/>
          <p:nvPr/>
        </p:nvSpPr>
        <p:spPr>
          <a:xfrm>
            <a:off x="7966672" y="5556012"/>
            <a:ext cx="866692" cy="923330"/>
          </a:xfrm>
          <a:prstGeom prst="rect">
            <a:avLst/>
          </a:prstGeom>
          <a:noFill/>
        </p:spPr>
        <p:txBody>
          <a:bodyPr wrap="square" rtlCol="0">
            <a:spAutoFit/>
          </a:bodyPr>
          <a:lstStyle/>
          <a:p>
            <a:r>
              <a:rPr lang="en-GB" dirty="0"/>
              <a:t>.</a:t>
            </a:r>
          </a:p>
          <a:p>
            <a:r>
              <a:rPr lang="en-GB" dirty="0"/>
              <a:t>.</a:t>
            </a:r>
          </a:p>
          <a:p>
            <a:r>
              <a:rPr lang="en-GB" dirty="0"/>
              <a:t>.</a:t>
            </a:r>
          </a:p>
        </p:txBody>
      </p:sp>
      <p:sp>
        <p:nvSpPr>
          <p:cNvPr id="15" name="TextBox 14">
            <a:extLst>
              <a:ext uri="{FF2B5EF4-FFF2-40B4-BE49-F238E27FC236}">
                <a16:creationId xmlns:a16="http://schemas.microsoft.com/office/drawing/2014/main" id="{23961C7D-C78F-D4D3-A071-ED1088E1055B}"/>
              </a:ext>
            </a:extLst>
          </p:cNvPr>
          <p:cNvSpPr txBox="1"/>
          <p:nvPr/>
        </p:nvSpPr>
        <p:spPr>
          <a:xfrm>
            <a:off x="4062044" y="5466521"/>
            <a:ext cx="2433099" cy="646331"/>
          </a:xfrm>
          <a:prstGeom prst="rect">
            <a:avLst/>
          </a:prstGeom>
          <a:noFill/>
        </p:spPr>
        <p:txBody>
          <a:bodyPr wrap="square" rtlCol="0">
            <a:spAutoFit/>
          </a:bodyPr>
          <a:lstStyle/>
          <a:p>
            <a:r>
              <a:rPr lang="en-GB" dirty="0"/>
              <a:t>Stable state reached – no change happens</a:t>
            </a:r>
          </a:p>
        </p:txBody>
      </p:sp>
    </p:spTree>
    <p:extLst>
      <p:ext uri="{BB962C8B-B14F-4D97-AF65-F5344CB8AC3E}">
        <p14:creationId xmlns:p14="http://schemas.microsoft.com/office/powerpoint/2010/main" val="2273343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00037-3EB5-B9CF-BFE1-59EA4C6468DC}"/>
              </a:ext>
            </a:extLst>
          </p:cNvPr>
          <p:cNvSpPr>
            <a:spLocks noGrp="1"/>
          </p:cNvSpPr>
          <p:nvPr>
            <p:ph type="title"/>
          </p:nvPr>
        </p:nvSpPr>
        <p:spPr/>
        <p:txBody>
          <a:bodyPr/>
          <a:lstStyle/>
          <a:p>
            <a:r>
              <a:rPr lang="en-GB" dirty="0"/>
              <a:t>Investigating ratio of ON nodes</a:t>
            </a:r>
          </a:p>
        </p:txBody>
      </p:sp>
      <p:pic>
        <p:nvPicPr>
          <p:cNvPr id="8" name="Picture 7">
            <a:extLst>
              <a:ext uri="{FF2B5EF4-FFF2-40B4-BE49-F238E27FC236}">
                <a16:creationId xmlns:a16="http://schemas.microsoft.com/office/drawing/2014/main" id="{F2339941-C83E-8D6C-D024-C99A9FAAF4B8}"/>
              </a:ext>
            </a:extLst>
          </p:cNvPr>
          <p:cNvPicPr>
            <a:picLocks noChangeAspect="1"/>
          </p:cNvPicPr>
          <p:nvPr/>
        </p:nvPicPr>
        <p:blipFill>
          <a:blip r:embed="rId2"/>
          <a:stretch>
            <a:fillRect/>
          </a:stretch>
        </p:blipFill>
        <p:spPr>
          <a:xfrm>
            <a:off x="124818" y="1770115"/>
            <a:ext cx="2728681" cy="2046511"/>
          </a:xfrm>
          <a:prstGeom prst="rect">
            <a:avLst/>
          </a:prstGeom>
        </p:spPr>
      </p:pic>
      <p:pic>
        <p:nvPicPr>
          <p:cNvPr id="10" name="Picture 9">
            <a:extLst>
              <a:ext uri="{FF2B5EF4-FFF2-40B4-BE49-F238E27FC236}">
                <a16:creationId xmlns:a16="http://schemas.microsoft.com/office/drawing/2014/main" id="{0467CE24-A16B-4C2C-89CF-A0831624AF55}"/>
              </a:ext>
            </a:extLst>
          </p:cNvPr>
          <p:cNvPicPr>
            <a:picLocks noChangeAspect="1"/>
          </p:cNvPicPr>
          <p:nvPr/>
        </p:nvPicPr>
        <p:blipFill>
          <a:blip r:embed="rId3"/>
          <a:stretch>
            <a:fillRect/>
          </a:stretch>
        </p:blipFill>
        <p:spPr>
          <a:xfrm>
            <a:off x="9029569" y="1828635"/>
            <a:ext cx="2766110" cy="2107512"/>
          </a:xfrm>
          <a:prstGeom prst="rect">
            <a:avLst/>
          </a:prstGeom>
        </p:spPr>
      </p:pic>
      <p:sp>
        <p:nvSpPr>
          <p:cNvPr id="11" name="TextBox 10">
            <a:extLst>
              <a:ext uri="{FF2B5EF4-FFF2-40B4-BE49-F238E27FC236}">
                <a16:creationId xmlns:a16="http://schemas.microsoft.com/office/drawing/2014/main" id="{B7646F98-C130-577A-778D-CA8ACFE50DC2}"/>
              </a:ext>
            </a:extLst>
          </p:cNvPr>
          <p:cNvSpPr txBox="1"/>
          <p:nvPr/>
        </p:nvSpPr>
        <p:spPr>
          <a:xfrm>
            <a:off x="398534" y="6358555"/>
            <a:ext cx="3055439" cy="369332"/>
          </a:xfrm>
          <a:prstGeom prst="rect">
            <a:avLst/>
          </a:prstGeom>
          <a:noFill/>
        </p:spPr>
        <p:txBody>
          <a:bodyPr wrap="square" rtlCol="0">
            <a:spAutoFit/>
          </a:bodyPr>
          <a:lstStyle/>
          <a:p>
            <a:r>
              <a:rPr lang="en-GB" dirty="0">
                <a:latin typeface="Abadi" panose="020B0604020104020204" pitchFamily="34" charset="0"/>
              </a:rPr>
              <a:t>N=100, c=20</a:t>
            </a:r>
          </a:p>
        </p:txBody>
      </p:sp>
      <p:sp>
        <p:nvSpPr>
          <p:cNvPr id="12" name="TextBox 11">
            <a:extLst>
              <a:ext uri="{FF2B5EF4-FFF2-40B4-BE49-F238E27FC236}">
                <a16:creationId xmlns:a16="http://schemas.microsoft.com/office/drawing/2014/main" id="{64A89431-C015-4EF7-CAD8-822DC773DB7D}"/>
              </a:ext>
            </a:extLst>
          </p:cNvPr>
          <p:cNvSpPr txBox="1"/>
          <p:nvPr/>
        </p:nvSpPr>
        <p:spPr>
          <a:xfrm>
            <a:off x="9030625" y="4002494"/>
            <a:ext cx="3055439" cy="369332"/>
          </a:xfrm>
          <a:prstGeom prst="rect">
            <a:avLst/>
          </a:prstGeom>
          <a:noFill/>
        </p:spPr>
        <p:txBody>
          <a:bodyPr wrap="square" rtlCol="0">
            <a:spAutoFit/>
          </a:bodyPr>
          <a:lstStyle/>
          <a:p>
            <a:r>
              <a:rPr lang="en-GB" dirty="0">
                <a:latin typeface="Abadi" panose="020B0604020104020204" pitchFamily="34" charset="0"/>
              </a:rPr>
              <a:t>N=1000, c=50</a:t>
            </a:r>
          </a:p>
        </p:txBody>
      </p:sp>
      <p:pic>
        <p:nvPicPr>
          <p:cNvPr id="14" name="Picture 13">
            <a:extLst>
              <a:ext uri="{FF2B5EF4-FFF2-40B4-BE49-F238E27FC236}">
                <a16:creationId xmlns:a16="http://schemas.microsoft.com/office/drawing/2014/main" id="{5A85B35D-162B-A3E2-3849-CF8DD5B02ABE}"/>
              </a:ext>
            </a:extLst>
          </p:cNvPr>
          <p:cNvPicPr>
            <a:picLocks noChangeAspect="1"/>
          </p:cNvPicPr>
          <p:nvPr/>
        </p:nvPicPr>
        <p:blipFill>
          <a:blip r:embed="rId4"/>
          <a:stretch>
            <a:fillRect/>
          </a:stretch>
        </p:blipFill>
        <p:spPr>
          <a:xfrm>
            <a:off x="5959690" y="1827270"/>
            <a:ext cx="2729797" cy="2079845"/>
          </a:xfrm>
          <a:prstGeom prst="rect">
            <a:avLst/>
          </a:prstGeom>
        </p:spPr>
      </p:pic>
      <p:sp>
        <p:nvSpPr>
          <p:cNvPr id="15" name="TextBox 14">
            <a:extLst>
              <a:ext uri="{FF2B5EF4-FFF2-40B4-BE49-F238E27FC236}">
                <a16:creationId xmlns:a16="http://schemas.microsoft.com/office/drawing/2014/main" id="{5B5BE88B-5949-3E6D-37CD-00785E621F97}"/>
              </a:ext>
            </a:extLst>
          </p:cNvPr>
          <p:cNvSpPr txBox="1"/>
          <p:nvPr/>
        </p:nvSpPr>
        <p:spPr>
          <a:xfrm>
            <a:off x="6096000" y="3937794"/>
            <a:ext cx="3055439" cy="369332"/>
          </a:xfrm>
          <a:prstGeom prst="rect">
            <a:avLst/>
          </a:prstGeom>
          <a:noFill/>
        </p:spPr>
        <p:txBody>
          <a:bodyPr wrap="square" rtlCol="0">
            <a:spAutoFit/>
          </a:bodyPr>
          <a:lstStyle/>
          <a:p>
            <a:r>
              <a:rPr lang="en-GB" dirty="0">
                <a:latin typeface="Abadi" panose="020B0604020104020204" pitchFamily="34" charset="0"/>
              </a:rPr>
              <a:t>N=1000, c=20</a:t>
            </a:r>
          </a:p>
        </p:txBody>
      </p:sp>
      <p:pic>
        <p:nvPicPr>
          <p:cNvPr id="17" name="Picture 16">
            <a:extLst>
              <a:ext uri="{FF2B5EF4-FFF2-40B4-BE49-F238E27FC236}">
                <a16:creationId xmlns:a16="http://schemas.microsoft.com/office/drawing/2014/main" id="{5BD5421B-9C42-206B-0DF9-AB9B73FE7089}"/>
              </a:ext>
            </a:extLst>
          </p:cNvPr>
          <p:cNvPicPr>
            <a:picLocks noChangeAspect="1"/>
          </p:cNvPicPr>
          <p:nvPr/>
        </p:nvPicPr>
        <p:blipFill>
          <a:blip r:embed="rId5"/>
          <a:stretch>
            <a:fillRect/>
          </a:stretch>
        </p:blipFill>
        <p:spPr>
          <a:xfrm>
            <a:off x="2933563" y="1827270"/>
            <a:ext cx="2686045" cy="2046511"/>
          </a:xfrm>
          <a:prstGeom prst="rect">
            <a:avLst/>
          </a:prstGeom>
        </p:spPr>
      </p:pic>
      <p:sp>
        <p:nvSpPr>
          <p:cNvPr id="18" name="TextBox 17">
            <a:extLst>
              <a:ext uri="{FF2B5EF4-FFF2-40B4-BE49-F238E27FC236}">
                <a16:creationId xmlns:a16="http://schemas.microsoft.com/office/drawing/2014/main" id="{F276C95D-E194-D489-BEC5-9B2D9DF3D37A}"/>
              </a:ext>
            </a:extLst>
          </p:cNvPr>
          <p:cNvSpPr txBox="1"/>
          <p:nvPr/>
        </p:nvSpPr>
        <p:spPr>
          <a:xfrm>
            <a:off x="2904251" y="4061136"/>
            <a:ext cx="3055439" cy="369332"/>
          </a:xfrm>
          <a:prstGeom prst="rect">
            <a:avLst/>
          </a:prstGeom>
          <a:noFill/>
        </p:spPr>
        <p:txBody>
          <a:bodyPr wrap="square" rtlCol="0">
            <a:spAutoFit/>
          </a:bodyPr>
          <a:lstStyle/>
          <a:p>
            <a:r>
              <a:rPr lang="en-GB" dirty="0">
                <a:latin typeface="Abadi" panose="020B0604020104020204" pitchFamily="34" charset="0"/>
              </a:rPr>
              <a:t>N=1000, c=15</a:t>
            </a:r>
          </a:p>
        </p:txBody>
      </p:sp>
      <p:pic>
        <p:nvPicPr>
          <p:cNvPr id="21" name="Picture 20">
            <a:extLst>
              <a:ext uri="{FF2B5EF4-FFF2-40B4-BE49-F238E27FC236}">
                <a16:creationId xmlns:a16="http://schemas.microsoft.com/office/drawing/2014/main" id="{FBA9CB27-B6C1-197B-D2A1-75AFD65BB761}"/>
              </a:ext>
            </a:extLst>
          </p:cNvPr>
          <p:cNvPicPr>
            <a:picLocks noChangeAspect="1"/>
          </p:cNvPicPr>
          <p:nvPr/>
        </p:nvPicPr>
        <p:blipFill>
          <a:blip r:embed="rId6"/>
          <a:stretch>
            <a:fillRect/>
          </a:stretch>
        </p:blipFill>
        <p:spPr>
          <a:xfrm>
            <a:off x="3136482" y="4430468"/>
            <a:ext cx="2565187" cy="1954429"/>
          </a:xfrm>
          <a:prstGeom prst="rect">
            <a:avLst/>
          </a:prstGeom>
        </p:spPr>
      </p:pic>
      <p:pic>
        <p:nvPicPr>
          <p:cNvPr id="23" name="Picture 22">
            <a:extLst>
              <a:ext uri="{FF2B5EF4-FFF2-40B4-BE49-F238E27FC236}">
                <a16:creationId xmlns:a16="http://schemas.microsoft.com/office/drawing/2014/main" id="{02DB5BDB-B295-FDEB-F156-1DE83FAB4087}"/>
              </a:ext>
            </a:extLst>
          </p:cNvPr>
          <p:cNvPicPr>
            <a:picLocks noChangeAspect="1"/>
          </p:cNvPicPr>
          <p:nvPr/>
        </p:nvPicPr>
        <p:blipFill>
          <a:blip r:embed="rId7"/>
          <a:stretch>
            <a:fillRect/>
          </a:stretch>
        </p:blipFill>
        <p:spPr>
          <a:xfrm>
            <a:off x="246135" y="4449548"/>
            <a:ext cx="2515101" cy="1916267"/>
          </a:xfrm>
          <a:prstGeom prst="rect">
            <a:avLst/>
          </a:prstGeom>
        </p:spPr>
      </p:pic>
      <p:sp>
        <p:nvSpPr>
          <p:cNvPr id="26" name="TextBox 25">
            <a:extLst>
              <a:ext uri="{FF2B5EF4-FFF2-40B4-BE49-F238E27FC236}">
                <a16:creationId xmlns:a16="http://schemas.microsoft.com/office/drawing/2014/main" id="{A61CB50E-8A6D-2606-80B9-884319F236E6}"/>
              </a:ext>
            </a:extLst>
          </p:cNvPr>
          <p:cNvSpPr txBox="1"/>
          <p:nvPr/>
        </p:nvSpPr>
        <p:spPr>
          <a:xfrm>
            <a:off x="396206" y="4010363"/>
            <a:ext cx="3055439" cy="369332"/>
          </a:xfrm>
          <a:prstGeom prst="rect">
            <a:avLst/>
          </a:prstGeom>
          <a:noFill/>
        </p:spPr>
        <p:txBody>
          <a:bodyPr wrap="square" rtlCol="0">
            <a:spAutoFit/>
          </a:bodyPr>
          <a:lstStyle/>
          <a:p>
            <a:r>
              <a:rPr lang="en-GB" dirty="0">
                <a:latin typeface="Abadi" panose="020B0604020104020204" pitchFamily="34" charset="0"/>
              </a:rPr>
              <a:t>N=1000, c=2</a:t>
            </a:r>
          </a:p>
        </p:txBody>
      </p:sp>
      <p:sp>
        <p:nvSpPr>
          <p:cNvPr id="27" name="TextBox 26">
            <a:extLst>
              <a:ext uri="{FF2B5EF4-FFF2-40B4-BE49-F238E27FC236}">
                <a16:creationId xmlns:a16="http://schemas.microsoft.com/office/drawing/2014/main" id="{1249E1EC-C53A-2341-02FC-EC864B5E5328}"/>
              </a:ext>
            </a:extLst>
          </p:cNvPr>
          <p:cNvSpPr txBox="1"/>
          <p:nvPr/>
        </p:nvSpPr>
        <p:spPr>
          <a:xfrm>
            <a:off x="3303707" y="6364526"/>
            <a:ext cx="3055439" cy="369332"/>
          </a:xfrm>
          <a:prstGeom prst="rect">
            <a:avLst/>
          </a:prstGeom>
          <a:noFill/>
        </p:spPr>
        <p:txBody>
          <a:bodyPr wrap="square" rtlCol="0">
            <a:spAutoFit/>
          </a:bodyPr>
          <a:lstStyle/>
          <a:p>
            <a:r>
              <a:rPr lang="en-GB" dirty="0">
                <a:latin typeface="Abadi" panose="020B0604020104020204" pitchFamily="34" charset="0"/>
              </a:rPr>
              <a:t>N=100, c=20</a:t>
            </a:r>
          </a:p>
        </p:txBody>
      </p:sp>
      <p:pic>
        <p:nvPicPr>
          <p:cNvPr id="29" name="Picture 28">
            <a:extLst>
              <a:ext uri="{FF2B5EF4-FFF2-40B4-BE49-F238E27FC236}">
                <a16:creationId xmlns:a16="http://schemas.microsoft.com/office/drawing/2014/main" id="{8DFDF7B5-BFAD-24B8-78F3-8097C227ED8F}"/>
              </a:ext>
            </a:extLst>
          </p:cNvPr>
          <p:cNvPicPr>
            <a:picLocks noChangeAspect="1"/>
          </p:cNvPicPr>
          <p:nvPr/>
        </p:nvPicPr>
        <p:blipFill>
          <a:blip r:embed="rId8"/>
          <a:stretch>
            <a:fillRect/>
          </a:stretch>
        </p:blipFill>
        <p:spPr>
          <a:xfrm>
            <a:off x="5962493" y="4360387"/>
            <a:ext cx="2807308" cy="2138901"/>
          </a:xfrm>
          <a:prstGeom prst="rect">
            <a:avLst/>
          </a:prstGeom>
        </p:spPr>
      </p:pic>
      <p:sp>
        <p:nvSpPr>
          <p:cNvPr id="32" name="TextBox 31">
            <a:extLst>
              <a:ext uri="{FF2B5EF4-FFF2-40B4-BE49-F238E27FC236}">
                <a16:creationId xmlns:a16="http://schemas.microsoft.com/office/drawing/2014/main" id="{DEC2FF3E-D71F-B9FA-5369-DEC13D18B904}"/>
              </a:ext>
            </a:extLst>
          </p:cNvPr>
          <p:cNvSpPr txBox="1"/>
          <p:nvPr/>
        </p:nvSpPr>
        <p:spPr>
          <a:xfrm>
            <a:off x="6096000" y="6416581"/>
            <a:ext cx="3055439" cy="369332"/>
          </a:xfrm>
          <a:prstGeom prst="rect">
            <a:avLst/>
          </a:prstGeom>
          <a:noFill/>
        </p:spPr>
        <p:txBody>
          <a:bodyPr wrap="square" rtlCol="0">
            <a:spAutoFit/>
          </a:bodyPr>
          <a:lstStyle/>
          <a:p>
            <a:r>
              <a:rPr lang="en-GB" dirty="0">
                <a:latin typeface="Abadi" panose="020B0604020104020204" pitchFamily="34" charset="0"/>
              </a:rPr>
              <a:t>N=10, c=2</a:t>
            </a:r>
          </a:p>
        </p:txBody>
      </p:sp>
      <p:pic>
        <p:nvPicPr>
          <p:cNvPr id="34" name="Picture 33">
            <a:extLst>
              <a:ext uri="{FF2B5EF4-FFF2-40B4-BE49-F238E27FC236}">
                <a16:creationId xmlns:a16="http://schemas.microsoft.com/office/drawing/2014/main" id="{05DBEB53-FCBA-890B-1596-C30CEE0E8C6F}"/>
              </a:ext>
            </a:extLst>
          </p:cNvPr>
          <p:cNvPicPr>
            <a:picLocks noChangeAspect="1"/>
          </p:cNvPicPr>
          <p:nvPr/>
        </p:nvPicPr>
        <p:blipFill>
          <a:blip r:embed="rId9"/>
          <a:stretch>
            <a:fillRect/>
          </a:stretch>
        </p:blipFill>
        <p:spPr>
          <a:xfrm>
            <a:off x="9030625" y="4423881"/>
            <a:ext cx="2570328" cy="1958345"/>
          </a:xfrm>
          <a:prstGeom prst="rect">
            <a:avLst/>
          </a:prstGeom>
        </p:spPr>
      </p:pic>
      <p:sp>
        <p:nvSpPr>
          <p:cNvPr id="35" name="TextBox 34">
            <a:extLst>
              <a:ext uri="{FF2B5EF4-FFF2-40B4-BE49-F238E27FC236}">
                <a16:creationId xmlns:a16="http://schemas.microsoft.com/office/drawing/2014/main" id="{392F01CD-688E-8428-D979-1C524378827D}"/>
              </a:ext>
            </a:extLst>
          </p:cNvPr>
          <p:cNvSpPr txBox="1"/>
          <p:nvPr/>
        </p:nvSpPr>
        <p:spPr>
          <a:xfrm>
            <a:off x="9136561" y="6401882"/>
            <a:ext cx="3055439" cy="369332"/>
          </a:xfrm>
          <a:prstGeom prst="rect">
            <a:avLst/>
          </a:prstGeom>
          <a:noFill/>
        </p:spPr>
        <p:txBody>
          <a:bodyPr wrap="square" rtlCol="0">
            <a:spAutoFit/>
          </a:bodyPr>
          <a:lstStyle/>
          <a:p>
            <a:r>
              <a:rPr lang="en-GB" dirty="0">
                <a:latin typeface="Abadi" panose="020B0604020104020204" pitchFamily="34" charset="0"/>
              </a:rPr>
              <a:t>N=100, c=10</a:t>
            </a:r>
          </a:p>
        </p:txBody>
      </p:sp>
    </p:spTree>
    <p:extLst>
      <p:ext uri="{BB962C8B-B14F-4D97-AF65-F5344CB8AC3E}">
        <p14:creationId xmlns:p14="http://schemas.microsoft.com/office/powerpoint/2010/main" val="159377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F4C51-7827-A280-8D90-4F5230DDAC97}"/>
              </a:ext>
            </a:extLst>
          </p:cNvPr>
          <p:cNvSpPr>
            <a:spLocks noGrp="1"/>
          </p:cNvSpPr>
          <p:nvPr>
            <p:ph type="title"/>
          </p:nvPr>
        </p:nvSpPr>
        <p:spPr/>
        <p:txBody>
          <a:bodyPr/>
          <a:lstStyle/>
          <a:p>
            <a:r>
              <a:rPr lang="en-GB" dirty="0"/>
              <a:t>Observations</a:t>
            </a:r>
          </a:p>
        </p:txBody>
      </p:sp>
      <p:sp>
        <p:nvSpPr>
          <p:cNvPr id="5" name="Content Placeholder 4">
            <a:extLst>
              <a:ext uri="{FF2B5EF4-FFF2-40B4-BE49-F238E27FC236}">
                <a16:creationId xmlns:a16="http://schemas.microsoft.com/office/drawing/2014/main" id="{52CFF825-54A4-8EE3-C4F3-B621D9993229}"/>
              </a:ext>
            </a:extLst>
          </p:cNvPr>
          <p:cNvSpPr>
            <a:spLocks noGrp="1"/>
          </p:cNvSpPr>
          <p:nvPr>
            <p:ph idx="1"/>
          </p:nvPr>
        </p:nvSpPr>
        <p:spPr/>
        <p:txBody>
          <a:bodyPr/>
          <a:lstStyle/>
          <a:p>
            <a:r>
              <a:rPr lang="en-GB" dirty="0"/>
              <a:t>Sometimes there is a quick decline in the ratio and stabilisation to a single value, sometimes there is periodic behaviour and sometimes the R value shifts around chaotically around 0.5.</a:t>
            </a:r>
          </a:p>
          <a:p>
            <a:r>
              <a:rPr lang="en-GB" dirty="0"/>
              <a:t>For low c values, the graph settles on ratios other than 0.5. This ratio seems to be relatively constant across many networks and doesn’t fluctuate too much with the size of the network.</a:t>
            </a:r>
          </a:p>
          <a:p>
            <a:r>
              <a:rPr lang="en-GB" dirty="0"/>
              <a:t>Larger the c value, the more the chaotic behaviour lasts.</a:t>
            </a:r>
          </a:p>
          <a:p>
            <a:r>
              <a:rPr lang="en-GB" dirty="0"/>
              <a:t>The larger the size, the longer it takes to stabilise.</a:t>
            </a:r>
          </a:p>
        </p:txBody>
      </p:sp>
    </p:spTree>
    <p:extLst>
      <p:ext uri="{BB962C8B-B14F-4D97-AF65-F5344CB8AC3E}">
        <p14:creationId xmlns:p14="http://schemas.microsoft.com/office/powerpoint/2010/main" val="1163697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809D3-0984-ACF0-9475-7CEBF660E23A}"/>
              </a:ext>
            </a:extLst>
          </p:cNvPr>
          <p:cNvSpPr>
            <a:spLocks noGrp="1"/>
          </p:cNvSpPr>
          <p:nvPr>
            <p:ph type="title"/>
          </p:nvPr>
        </p:nvSpPr>
        <p:spPr/>
        <p:txBody>
          <a:bodyPr/>
          <a:lstStyle/>
          <a:p>
            <a:r>
              <a:rPr lang="en-GB" dirty="0">
                <a:latin typeface="Abadi" panose="020B0604020104020204" pitchFamily="34" charset="0"/>
              </a:rPr>
              <a:t>Data</a:t>
            </a:r>
          </a:p>
        </p:txBody>
      </p:sp>
      <p:pic>
        <p:nvPicPr>
          <p:cNvPr id="5" name="Picture 4" descr="Chart&#10;&#10;Description automatically generated">
            <a:extLst>
              <a:ext uri="{FF2B5EF4-FFF2-40B4-BE49-F238E27FC236}">
                <a16:creationId xmlns:a16="http://schemas.microsoft.com/office/drawing/2014/main" id="{9244E9F5-3A11-D045-9106-E71A3AF166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38" y="2336782"/>
            <a:ext cx="3343468" cy="2507601"/>
          </a:xfrm>
          <a:prstGeom prst="rect">
            <a:avLst/>
          </a:prstGeom>
        </p:spPr>
      </p:pic>
      <p:sp>
        <p:nvSpPr>
          <p:cNvPr id="6" name="TextBox 5">
            <a:extLst>
              <a:ext uri="{FF2B5EF4-FFF2-40B4-BE49-F238E27FC236}">
                <a16:creationId xmlns:a16="http://schemas.microsoft.com/office/drawing/2014/main" id="{F82874E8-564F-C3C0-B177-DCFD083DBCA9}"/>
              </a:ext>
            </a:extLst>
          </p:cNvPr>
          <p:cNvSpPr txBox="1"/>
          <p:nvPr/>
        </p:nvSpPr>
        <p:spPr>
          <a:xfrm>
            <a:off x="0" y="4682800"/>
            <a:ext cx="3434964" cy="338554"/>
          </a:xfrm>
          <a:prstGeom prst="rect">
            <a:avLst/>
          </a:prstGeom>
          <a:noFill/>
        </p:spPr>
        <p:txBody>
          <a:bodyPr wrap="square" rtlCol="0">
            <a:spAutoFit/>
          </a:bodyPr>
          <a:lstStyle/>
          <a:p>
            <a:r>
              <a:rPr lang="en-GB" sz="1600" dirty="0">
                <a:latin typeface="Abadi" panose="020B0604020104020204" pitchFamily="34" charset="0"/>
              </a:rPr>
              <a:t>N=1000, repeat per c value = 100</a:t>
            </a:r>
          </a:p>
        </p:txBody>
      </p:sp>
      <p:sp>
        <p:nvSpPr>
          <p:cNvPr id="7" name="TextBox 6">
            <a:extLst>
              <a:ext uri="{FF2B5EF4-FFF2-40B4-BE49-F238E27FC236}">
                <a16:creationId xmlns:a16="http://schemas.microsoft.com/office/drawing/2014/main" id="{47C2BC14-5704-98E8-7999-CA90B0A51EB9}"/>
              </a:ext>
            </a:extLst>
          </p:cNvPr>
          <p:cNvSpPr txBox="1"/>
          <p:nvPr/>
        </p:nvSpPr>
        <p:spPr>
          <a:xfrm>
            <a:off x="290345" y="1841338"/>
            <a:ext cx="3117800" cy="830997"/>
          </a:xfrm>
          <a:prstGeom prst="rect">
            <a:avLst/>
          </a:prstGeom>
          <a:noFill/>
        </p:spPr>
        <p:txBody>
          <a:bodyPr wrap="square" rtlCol="0">
            <a:spAutoFit/>
          </a:bodyPr>
          <a:lstStyle/>
          <a:p>
            <a:r>
              <a:rPr lang="en-GB" sz="1600" dirty="0">
                <a:latin typeface="Abadi" panose="020B0604020104020204" pitchFamily="34" charset="0"/>
              </a:rPr>
              <a:t>The ratio of ON nodes which the network stabilises to against the average degree of nodes</a:t>
            </a:r>
          </a:p>
        </p:txBody>
      </p:sp>
      <p:sp>
        <p:nvSpPr>
          <p:cNvPr id="9" name="TextBox 8">
            <a:extLst>
              <a:ext uri="{FF2B5EF4-FFF2-40B4-BE49-F238E27FC236}">
                <a16:creationId xmlns:a16="http://schemas.microsoft.com/office/drawing/2014/main" id="{411E5854-7AA5-2E13-2AAD-6DE3FC88CB93}"/>
              </a:ext>
            </a:extLst>
          </p:cNvPr>
          <p:cNvSpPr txBox="1"/>
          <p:nvPr/>
        </p:nvSpPr>
        <p:spPr>
          <a:xfrm>
            <a:off x="3545842" y="1767733"/>
            <a:ext cx="3035081" cy="830997"/>
          </a:xfrm>
          <a:prstGeom prst="rect">
            <a:avLst/>
          </a:prstGeom>
          <a:noFill/>
        </p:spPr>
        <p:txBody>
          <a:bodyPr wrap="square">
            <a:spAutoFit/>
          </a:bodyPr>
          <a:lstStyle/>
          <a:p>
            <a:r>
              <a:rPr lang="en-GB" sz="1600" dirty="0">
                <a:latin typeface="Abadi" panose="020B0604020104020204" pitchFamily="34" charset="0"/>
              </a:rPr>
              <a:t>The ratio of ON nodes which the network stabilises to against the number of nodes</a:t>
            </a:r>
          </a:p>
        </p:txBody>
      </p:sp>
      <p:pic>
        <p:nvPicPr>
          <p:cNvPr id="11" name="Picture 10" descr="Chart, line chart&#10;&#10;Description automatically generated">
            <a:extLst>
              <a:ext uri="{FF2B5EF4-FFF2-40B4-BE49-F238E27FC236}">
                <a16:creationId xmlns:a16="http://schemas.microsoft.com/office/drawing/2014/main" id="{E6CC9CE8-A1A3-A49F-17C8-3D6C60D60C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4964" y="2529116"/>
            <a:ext cx="3117800" cy="2338350"/>
          </a:xfrm>
          <a:prstGeom prst="rect">
            <a:avLst/>
          </a:prstGeom>
        </p:spPr>
      </p:pic>
      <p:sp>
        <p:nvSpPr>
          <p:cNvPr id="13" name="TextBox 12">
            <a:extLst>
              <a:ext uri="{FF2B5EF4-FFF2-40B4-BE49-F238E27FC236}">
                <a16:creationId xmlns:a16="http://schemas.microsoft.com/office/drawing/2014/main" id="{E8F4BAD5-0946-0C68-9E8F-B00A010612C4}"/>
              </a:ext>
            </a:extLst>
          </p:cNvPr>
          <p:cNvSpPr txBox="1"/>
          <p:nvPr/>
        </p:nvSpPr>
        <p:spPr>
          <a:xfrm>
            <a:off x="3633813" y="4836509"/>
            <a:ext cx="3044632" cy="338554"/>
          </a:xfrm>
          <a:prstGeom prst="rect">
            <a:avLst/>
          </a:prstGeom>
          <a:noFill/>
        </p:spPr>
        <p:txBody>
          <a:bodyPr wrap="square">
            <a:spAutoFit/>
          </a:bodyPr>
          <a:lstStyle/>
          <a:p>
            <a:r>
              <a:rPr lang="en-GB" sz="1600" dirty="0">
                <a:latin typeface="Abadi" panose="020B0604020104020204" pitchFamily="34" charset="0"/>
              </a:rPr>
              <a:t>c=4, repeat per N value = 500</a:t>
            </a:r>
          </a:p>
        </p:txBody>
      </p:sp>
      <p:pic>
        <p:nvPicPr>
          <p:cNvPr id="15" name="Picture 14">
            <a:extLst>
              <a:ext uri="{FF2B5EF4-FFF2-40B4-BE49-F238E27FC236}">
                <a16:creationId xmlns:a16="http://schemas.microsoft.com/office/drawing/2014/main" id="{35DA95C6-1BC0-1B13-1216-A241EE13C172}"/>
              </a:ext>
            </a:extLst>
          </p:cNvPr>
          <p:cNvPicPr>
            <a:picLocks noChangeAspect="1"/>
          </p:cNvPicPr>
          <p:nvPr/>
        </p:nvPicPr>
        <p:blipFill>
          <a:blip r:embed="rId4"/>
          <a:stretch>
            <a:fillRect/>
          </a:stretch>
        </p:blipFill>
        <p:spPr>
          <a:xfrm>
            <a:off x="6583939" y="2742432"/>
            <a:ext cx="2750282" cy="2117101"/>
          </a:xfrm>
          <a:prstGeom prst="rect">
            <a:avLst/>
          </a:prstGeom>
        </p:spPr>
      </p:pic>
      <p:pic>
        <p:nvPicPr>
          <p:cNvPr id="19" name="Picture 18">
            <a:extLst>
              <a:ext uri="{FF2B5EF4-FFF2-40B4-BE49-F238E27FC236}">
                <a16:creationId xmlns:a16="http://schemas.microsoft.com/office/drawing/2014/main" id="{244D41BE-60C5-E35A-88E6-77455A214B11}"/>
              </a:ext>
            </a:extLst>
          </p:cNvPr>
          <p:cNvPicPr>
            <a:picLocks noChangeAspect="1"/>
          </p:cNvPicPr>
          <p:nvPr/>
        </p:nvPicPr>
        <p:blipFill rotWithShape="1">
          <a:blip r:embed="rId5"/>
          <a:srcRect l="-1086" t="-2313" r="95934" b="7046"/>
          <a:stretch/>
        </p:blipFill>
        <p:spPr>
          <a:xfrm rot="10800000" flipH="1">
            <a:off x="6418700" y="2472247"/>
            <a:ext cx="175804" cy="2564316"/>
          </a:xfrm>
          <a:prstGeom prst="rect">
            <a:avLst/>
          </a:prstGeom>
        </p:spPr>
      </p:pic>
      <p:sp>
        <p:nvSpPr>
          <p:cNvPr id="20" name="TextBox 19">
            <a:extLst>
              <a:ext uri="{FF2B5EF4-FFF2-40B4-BE49-F238E27FC236}">
                <a16:creationId xmlns:a16="http://schemas.microsoft.com/office/drawing/2014/main" id="{1589A5D0-9B7F-2C1F-4ACC-B27C7C7B615F}"/>
              </a:ext>
            </a:extLst>
          </p:cNvPr>
          <p:cNvSpPr txBox="1"/>
          <p:nvPr/>
        </p:nvSpPr>
        <p:spPr>
          <a:xfrm>
            <a:off x="6866228" y="1724154"/>
            <a:ext cx="2536100" cy="1077218"/>
          </a:xfrm>
          <a:prstGeom prst="rect">
            <a:avLst/>
          </a:prstGeom>
          <a:noFill/>
        </p:spPr>
        <p:txBody>
          <a:bodyPr wrap="square">
            <a:spAutoFit/>
          </a:bodyPr>
          <a:lstStyle/>
          <a:p>
            <a:r>
              <a:rPr lang="en-GB" sz="1600" dirty="0">
                <a:latin typeface="Abadi" panose="020B0604020104020204" pitchFamily="34" charset="0"/>
              </a:rPr>
              <a:t>The number of time steps taken for the network to stabilise against the number of nodes</a:t>
            </a:r>
          </a:p>
        </p:txBody>
      </p:sp>
      <p:sp>
        <p:nvSpPr>
          <p:cNvPr id="21" name="TextBox 20">
            <a:extLst>
              <a:ext uri="{FF2B5EF4-FFF2-40B4-BE49-F238E27FC236}">
                <a16:creationId xmlns:a16="http://schemas.microsoft.com/office/drawing/2014/main" id="{E64BE0C2-4F79-EAEC-7F6C-4798AB335F01}"/>
              </a:ext>
            </a:extLst>
          </p:cNvPr>
          <p:cNvSpPr txBox="1"/>
          <p:nvPr/>
        </p:nvSpPr>
        <p:spPr>
          <a:xfrm>
            <a:off x="6689725" y="4744176"/>
            <a:ext cx="2764013" cy="584775"/>
          </a:xfrm>
          <a:prstGeom prst="rect">
            <a:avLst/>
          </a:prstGeom>
          <a:noFill/>
        </p:spPr>
        <p:txBody>
          <a:bodyPr wrap="square">
            <a:spAutoFit/>
          </a:bodyPr>
          <a:lstStyle/>
          <a:p>
            <a:r>
              <a:rPr lang="en-GB" sz="1600" dirty="0">
                <a:latin typeface="Abadi" panose="020B0604020104020204" pitchFamily="34" charset="0"/>
              </a:rPr>
              <a:t>c=4, repeat per N value = 500</a:t>
            </a:r>
          </a:p>
        </p:txBody>
      </p:sp>
      <p:pic>
        <p:nvPicPr>
          <p:cNvPr id="23" name="Picture 22">
            <a:extLst>
              <a:ext uri="{FF2B5EF4-FFF2-40B4-BE49-F238E27FC236}">
                <a16:creationId xmlns:a16="http://schemas.microsoft.com/office/drawing/2014/main" id="{365BA42B-B803-3970-60CE-BFA92AEFAF20}"/>
              </a:ext>
            </a:extLst>
          </p:cNvPr>
          <p:cNvPicPr>
            <a:picLocks noChangeAspect="1"/>
          </p:cNvPicPr>
          <p:nvPr/>
        </p:nvPicPr>
        <p:blipFill>
          <a:blip r:embed="rId6"/>
          <a:stretch>
            <a:fillRect/>
          </a:stretch>
        </p:blipFill>
        <p:spPr>
          <a:xfrm>
            <a:off x="9334221" y="2735341"/>
            <a:ext cx="2838982" cy="2101168"/>
          </a:xfrm>
          <a:prstGeom prst="rect">
            <a:avLst/>
          </a:prstGeom>
        </p:spPr>
      </p:pic>
      <p:sp>
        <p:nvSpPr>
          <p:cNvPr id="26" name="TextBox 25">
            <a:extLst>
              <a:ext uri="{FF2B5EF4-FFF2-40B4-BE49-F238E27FC236}">
                <a16:creationId xmlns:a16="http://schemas.microsoft.com/office/drawing/2014/main" id="{A3BA4EF7-663A-C344-03E6-26FB2E637E55}"/>
              </a:ext>
            </a:extLst>
          </p:cNvPr>
          <p:cNvSpPr txBox="1"/>
          <p:nvPr/>
        </p:nvSpPr>
        <p:spPr>
          <a:xfrm>
            <a:off x="9537217" y="4773699"/>
            <a:ext cx="2600145" cy="584775"/>
          </a:xfrm>
          <a:prstGeom prst="rect">
            <a:avLst/>
          </a:prstGeom>
          <a:noFill/>
        </p:spPr>
        <p:txBody>
          <a:bodyPr wrap="square" rtlCol="0">
            <a:spAutoFit/>
          </a:bodyPr>
          <a:lstStyle/>
          <a:p>
            <a:r>
              <a:rPr lang="en-GB" sz="1600" dirty="0">
                <a:latin typeface="Abadi" panose="020B0604020104020204" pitchFamily="34" charset="0"/>
              </a:rPr>
              <a:t>N=1000, repeat per c value = 100</a:t>
            </a:r>
          </a:p>
        </p:txBody>
      </p:sp>
      <p:sp>
        <p:nvSpPr>
          <p:cNvPr id="27" name="TextBox 26">
            <a:extLst>
              <a:ext uri="{FF2B5EF4-FFF2-40B4-BE49-F238E27FC236}">
                <a16:creationId xmlns:a16="http://schemas.microsoft.com/office/drawing/2014/main" id="{E19F2907-9A67-E93E-2FFD-7EBB07FDD272}"/>
              </a:ext>
            </a:extLst>
          </p:cNvPr>
          <p:cNvSpPr txBox="1"/>
          <p:nvPr/>
        </p:nvSpPr>
        <p:spPr>
          <a:xfrm>
            <a:off x="9537217" y="1690687"/>
            <a:ext cx="2536100" cy="1077218"/>
          </a:xfrm>
          <a:prstGeom prst="rect">
            <a:avLst/>
          </a:prstGeom>
          <a:noFill/>
        </p:spPr>
        <p:txBody>
          <a:bodyPr wrap="square">
            <a:spAutoFit/>
          </a:bodyPr>
          <a:lstStyle/>
          <a:p>
            <a:r>
              <a:rPr lang="en-GB" sz="1600" dirty="0">
                <a:latin typeface="Abadi" panose="020B0604020104020204" pitchFamily="34" charset="0"/>
              </a:rPr>
              <a:t>The number of time steps taken for the network to stabilise against the average degree of nodes</a:t>
            </a:r>
          </a:p>
        </p:txBody>
      </p:sp>
    </p:spTree>
    <p:extLst>
      <p:ext uri="{BB962C8B-B14F-4D97-AF65-F5344CB8AC3E}">
        <p14:creationId xmlns:p14="http://schemas.microsoft.com/office/powerpoint/2010/main" val="213382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6A648-5E8F-D7C6-6672-E2A623FE7D90}"/>
              </a:ext>
            </a:extLst>
          </p:cNvPr>
          <p:cNvSpPr>
            <a:spLocks noGrp="1"/>
          </p:cNvSpPr>
          <p:nvPr>
            <p:ph type="title"/>
          </p:nvPr>
        </p:nvSpPr>
        <p:spPr/>
        <p:txBody>
          <a:bodyPr/>
          <a:lstStyle/>
          <a:p>
            <a:r>
              <a:rPr lang="en-GB" dirty="0"/>
              <a:t>Perceptron</a:t>
            </a:r>
          </a:p>
        </p:txBody>
      </p:sp>
      <p:sp>
        <p:nvSpPr>
          <p:cNvPr id="3" name="Content Placeholder 2">
            <a:extLst>
              <a:ext uri="{FF2B5EF4-FFF2-40B4-BE49-F238E27FC236}">
                <a16:creationId xmlns:a16="http://schemas.microsoft.com/office/drawing/2014/main" id="{18D40966-998C-D1A4-ED03-E89EA2B03897}"/>
              </a:ext>
            </a:extLst>
          </p:cNvPr>
          <p:cNvSpPr>
            <a:spLocks noGrp="1"/>
          </p:cNvSpPr>
          <p:nvPr>
            <p:ph idx="1"/>
          </p:nvPr>
        </p:nvSpPr>
        <p:spPr/>
        <p:txBody>
          <a:bodyPr/>
          <a:lstStyle/>
          <a:p>
            <a:r>
              <a:rPr lang="en-GB" dirty="0"/>
              <a:t>Instead of the rule with S=0 no change we have S &gt; 0 turns ON, else OFF.</a:t>
            </a:r>
          </a:p>
          <a:p>
            <a:r>
              <a:rPr lang="en-GB" dirty="0"/>
              <a:t>Simple oscillation:</a:t>
            </a:r>
          </a:p>
        </p:txBody>
      </p:sp>
      <p:pic>
        <p:nvPicPr>
          <p:cNvPr id="5" name="Picture 4">
            <a:extLst>
              <a:ext uri="{FF2B5EF4-FFF2-40B4-BE49-F238E27FC236}">
                <a16:creationId xmlns:a16="http://schemas.microsoft.com/office/drawing/2014/main" id="{E84F1ACE-BEB7-771E-021E-2D6835D01C1D}"/>
              </a:ext>
            </a:extLst>
          </p:cNvPr>
          <p:cNvPicPr>
            <a:picLocks noChangeAspect="1"/>
          </p:cNvPicPr>
          <p:nvPr/>
        </p:nvPicPr>
        <p:blipFill>
          <a:blip r:embed="rId2"/>
          <a:stretch>
            <a:fillRect/>
          </a:stretch>
        </p:blipFill>
        <p:spPr>
          <a:xfrm>
            <a:off x="989232" y="3513471"/>
            <a:ext cx="2581294" cy="1966700"/>
          </a:xfrm>
          <a:prstGeom prst="rect">
            <a:avLst/>
          </a:prstGeom>
        </p:spPr>
      </p:pic>
      <p:sp>
        <p:nvSpPr>
          <p:cNvPr id="6" name="TextBox 5">
            <a:extLst>
              <a:ext uri="{FF2B5EF4-FFF2-40B4-BE49-F238E27FC236}">
                <a16:creationId xmlns:a16="http://schemas.microsoft.com/office/drawing/2014/main" id="{DE2E457F-99AA-8AB6-EA36-839C7E401900}"/>
              </a:ext>
            </a:extLst>
          </p:cNvPr>
          <p:cNvSpPr txBox="1"/>
          <p:nvPr/>
        </p:nvSpPr>
        <p:spPr>
          <a:xfrm>
            <a:off x="854697" y="166132"/>
            <a:ext cx="3487311" cy="861774"/>
          </a:xfrm>
          <a:prstGeom prst="rect">
            <a:avLst/>
          </a:prstGeom>
          <a:noFill/>
        </p:spPr>
        <p:txBody>
          <a:bodyPr wrap="square" rtlCol="0">
            <a:spAutoFit/>
          </a:bodyPr>
          <a:lstStyle/>
          <a:p>
            <a:r>
              <a:rPr lang="en-GB" sz="1000" b="0" i="0" dirty="0">
                <a:effectLst/>
                <a:latin typeface="Consolas" panose="020B0609020204030204" pitchFamily="49" charset="0"/>
              </a:rPr>
              <a:t>[(0, {'active': 1}), (1, {'active': 1}), (2, {'active': 0})] [(0, 1, {'weight': -1}), (0, 2, {'weight': 1}), (1, 0, {'weight': -1}), (1, 2, {'weight': 1}), (2, 0, {'weight': 1}), (2, 1, {'weight': 1})] – N=3,c=3</a:t>
            </a:r>
            <a:endParaRPr lang="en-GB" sz="1000" dirty="0"/>
          </a:p>
        </p:txBody>
      </p:sp>
      <p:pic>
        <p:nvPicPr>
          <p:cNvPr id="8" name="Picture 7">
            <a:extLst>
              <a:ext uri="{FF2B5EF4-FFF2-40B4-BE49-F238E27FC236}">
                <a16:creationId xmlns:a16="http://schemas.microsoft.com/office/drawing/2014/main" id="{77B33350-3853-407C-63EC-6B4BD1533EF1}"/>
              </a:ext>
            </a:extLst>
          </p:cNvPr>
          <p:cNvPicPr>
            <a:picLocks noChangeAspect="1"/>
          </p:cNvPicPr>
          <p:nvPr/>
        </p:nvPicPr>
        <p:blipFill>
          <a:blip r:embed="rId3"/>
          <a:stretch>
            <a:fillRect/>
          </a:stretch>
        </p:blipFill>
        <p:spPr>
          <a:xfrm>
            <a:off x="6999005" y="-250817"/>
            <a:ext cx="2605087" cy="1966912"/>
          </a:xfrm>
          <a:prstGeom prst="rect">
            <a:avLst/>
          </a:prstGeom>
        </p:spPr>
      </p:pic>
      <p:sp>
        <p:nvSpPr>
          <p:cNvPr id="10" name="TextBox 9">
            <a:extLst>
              <a:ext uri="{FF2B5EF4-FFF2-40B4-BE49-F238E27FC236}">
                <a16:creationId xmlns:a16="http://schemas.microsoft.com/office/drawing/2014/main" id="{7B7418F1-48C6-6B2B-8C3E-B8DAF24B52BC}"/>
              </a:ext>
            </a:extLst>
          </p:cNvPr>
          <p:cNvSpPr txBox="1"/>
          <p:nvPr/>
        </p:nvSpPr>
        <p:spPr>
          <a:xfrm>
            <a:off x="4618217" y="365125"/>
            <a:ext cx="2955566" cy="1615827"/>
          </a:xfrm>
          <a:prstGeom prst="rect">
            <a:avLst/>
          </a:prstGeom>
          <a:noFill/>
        </p:spPr>
        <p:txBody>
          <a:bodyPr wrap="square">
            <a:spAutoFit/>
          </a:bodyPr>
          <a:lstStyle/>
          <a:p>
            <a:r>
              <a:rPr lang="en-GB" sz="1100" b="0" i="0" dirty="0">
                <a:effectLst/>
                <a:latin typeface="Consolas" panose="020B0609020204030204" pitchFamily="49" charset="0"/>
              </a:rPr>
              <a:t>[(0, 1, {'weight': -1}), (0, 2, {'weight': 1}), (0, 3, {'weight': 1}), (1, 0, {'weight': 1}), (1, 2, {'weight': 1}), (1, 3, {'weight': 1}), (2, 0, {'weight': -1}), (2, 1, {'weight': 1}), (2, 3, {'weight': -1}), (3, 0, {'weight': 1}), (3, 1, {'weight': -1}), (3, 2, {'weight': 1})] - N=4,c=4</a:t>
            </a:r>
            <a:endParaRPr lang="en-GB" sz="1100" dirty="0"/>
          </a:p>
        </p:txBody>
      </p:sp>
      <p:pic>
        <p:nvPicPr>
          <p:cNvPr id="12" name="Picture 11">
            <a:extLst>
              <a:ext uri="{FF2B5EF4-FFF2-40B4-BE49-F238E27FC236}">
                <a16:creationId xmlns:a16="http://schemas.microsoft.com/office/drawing/2014/main" id="{9FE7D650-5E63-AF1E-1E36-50002DB7014A}"/>
              </a:ext>
            </a:extLst>
          </p:cNvPr>
          <p:cNvPicPr>
            <a:picLocks noChangeAspect="1"/>
          </p:cNvPicPr>
          <p:nvPr/>
        </p:nvPicPr>
        <p:blipFill>
          <a:blip r:embed="rId4"/>
          <a:stretch>
            <a:fillRect/>
          </a:stretch>
        </p:blipFill>
        <p:spPr>
          <a:xfrm>
            <a:off x="3613199" y="3493587"/>
            <a:ext cx="2604804" cy="1966699"/>
          </a:xfrm>
          <a:prstGeom prst="rect">
            <a:avLst/>
          </a:prstGeom>
        </p:spPr>
      </p:pic>
      <p:sp>
        <p:nvSpPr>
          <p:cNvPr id="14" name="TextBox 13">
            <a:extLst>
              <a:ext uri="{FF2B5EF4-FFF2-40B4-BE49-F238E27FC236}">
                <a16:creationId xmlns:a16="http://schemas.microsoft.com/office/drawing/2014/main" id="{65CD88A7-B89B-5FB0-E58B-ABEAAD2B7EB2}"/>
              </a:ext>
            </a:extLst>
          </p:cNvPr>
          <p:cNvSpPr txBox="1"/>
          <p:nvPr/>
        </p:nvSpPr>
        <p:spPr>
          <a:xfrm>
            <a:off x="10051559" y="452951"/>
            <a:ext cx="2880692" cy="1708160"/>
          </a:xfrm>
          <a:prstGeom prst="rect">
            <a:avLst/>
          </a:prstGeom>
          <a:noFill/>
        </p:spPr>
        <p:txBody>
          <a:bodyPr wrap="square">
            <a:spAutoFit/>
          </a:bodyPr>
          <a:lstStyle/>
          <a:p>
            <a:r>
              <a:rPr lang="en-GB" sz="500" b="0" i="0" dirty="0">
                <a:effectLst/>
                <a:latin typeface="Consolas" panose="020B0609020204030204" pitchFamily="49" charset="0"/>
              </a:rPr>
              <a:t>[(0, 1, {'weight': -1}), (0, 2, {'weight': 1}), (0, 3, {'weight': 1}), (0, 5, {'weight': 1}), (0, 6, {'weight': -1}), (0, 7, {'weight': 1}), (1, 4, {'weight': -1}), (1, 6, {'weight': -1}), (1, 7, {'weight': 1}), (1, 9, {'weight': -1}), (1, 0, {'weight': -1}), (2, 3, {'weight': 1}), (2, 5, {'weight': -1}), (2, 6, {'weight': 1}), (2, 8, {'weight': -1}), (2, 9, {'weight': 1}), (2, 1, {'weight': 1}), (3, 4, {'weight': 1}), (3, 5, {'weight': 1}), (3, 6, {'weight': -1}), (3, 7, {'weight': -1}), (3, 9, {'weight': 1}), (3, 1, {'weight': 1}), (3, 2, {'weight': -1}), (4, 5, {'weight': -1}), (4, 6, {'weight': -1}), (4, 7, {'weight': 1}), (4, 8, {'weight': 1}), (4, 1, {'weight': -1}), (4, 2, {'weight': -1}), (4, 3, {'weight': -1}), (5, 6, {'weight': -1}), (5, 7, {'weight': -1}), (5, 8, {'weight': 1}), (5, 9, {'weight': 1}), (5, 2, {'weight': 1}), (5, 3, {'weight': -1}), (5, 4, {'weight': 1}), (6, 8, {'weight': 1}), (6, 9, {'weight': -1}), (6, 0, {'weight': -1}), (6, 1, {'weight': 1}), (6, 3, {'weight': 1}), (6, 4, {'weight': -1}), (7, 8, {'weight': -1}), (7, 9, {'weight': -1}), (7, 0, {'weight': 1}), (7, 5, {'weight': 1}), (7, 6, {'weight': 1}), (8, 0, {'weight': -1}), (8, 1, {'weight': 1}), (8, 2, {'weight': -1}), (8, 3, {'weight': -1}), (8, 4, {'weight': -1}), (8, 7, {'weight': -1}), (9, 0, {'weight': 1}), (9, 2, {'weight': 1}), (9, 4, {'weight': 1}), (9, 6, {'weight': 1}), (9, 7, {'weight': 1}), (9, 8, {'weight': 1})]</a:t>
            </a:r>
            <a:endParaRPr lang="en-GB" sz="500" dirty="0"/>
          </a:p>
        </p:txBody>
      </p:sp>
      <p:pic>
        <p:nvPicPr>
          <p:cNvPr id="16" name="Picture 15">
            <a:extLst>
              <a:ext uri="{FF2B5EF4-FFF2-40B4-BE49-F238E27FC236}">
                <a16:creationId xmlns:a16="http://schemas.microsoft.com/office/drawing/2014/main" id="{0A4A6D47-5D73-07C0-175B-7CE0ECE33AC1}"/>
              </a:ext>
            </a:extLst>
          </p:cNvPr>
          <p:cNvPicPr>
            <a:picLocks noChangeAspect="1"/>
          </p:cNvPicPr>
          <p:nvPr/>
        </p:nvPicPr>
        <p:blipFill>
          <a:blip r:embed="rId5"/>
          <a:stretch>
            <a:fillRect/>
          </a:stretch>
        </p:blipFill>
        <p:spPr>
          <a:xfrm>
            <a:off x="6271380" y="3521096"/>
            <a:ext cx="2604805" cy="1966700"/>
          </a:xfrm>
          <a:prstGeom prst="rect">
            <a:avLst/>
          </a:prstGeom>
        </p:spPr>
      </p:pic>
      <p:pic>
        <p:nvPicPr>
          <p:cNvPr id="18" name="Picture 17">
            <a:extLst>
              <a:ext uri="{FF2B5EF4-FFF2-40B4-BE49-F238E27FC236}">
                <a16:creationId xmlns:a16="http://schemas.microsoft.com/office/drawing/2014/main" id="{9D1B6A39-0E6D-886E-DF8C-43969E910901}"/>
              </a:ext>
            </a:extLst>
          </p:cNvPr>
          <p:cNvPicPr>
            <a:picLocks noChangeAspect="1"/>
          </p:cNvPicPr>
          <p:nvPr/>
        </p:nvPicPr>
        <p:blipFill>
          <a:blip r:embed="rId6"/>
          <a:stretch>
            <a:fillRect/>
          </a:stretch>
        </p:blipFill>
        <p:spPr>
          <a:xfrm>
            <a:off x="8946473" y="3572849"/>
            <a:ext cx="2518284" cy="1901373"/>
          </a:xfrm>
          <a:prstGeom prst="rect">
            <a:avLst/>
          </a:prstGeom>
        </p:spPr>
      </p:pic>
      <p:sp>
        <p:nvSpPr>
          <p:cNvPr id="19" name="TextBox 18">
            <a:extLst>
              <a:ext uri="{FF2B5EF4-FFF2-40B4-BE49-F238E27FC236}">
                <a16:creationId xmlns:a16="http://schemas.microsoft.com/office/drawing/2014/main" id="{183E6596-8A7C-04C6-5FB7-6B17CB7D8A59}"/>
              </a:ext>
            </a:extLst>
          </p:cNvPr>
          <p:cNvSpPr txBox="1"/>
          <p:nvPr/>
        </p:nvSpPr>
        <p:spPr>
          <a:xfrm>
            <a:off x="9791938" y="483415"/>
            <a:ext cx="2192942" cy="369332"/>
          </a:xfrm>
          <a:prstGeom prst="rect">
            <a:avLst/>
          </a:prstGeom>
          <a:noFill/>
        </p:spPr>
        <p:txBody>
          <a:bodyPr wrap="square" rtlCol="0">
            <a:spAutoFit/>
          </a:bodyPr>
          <a:lstStyle/>
          <a:p>
            <a:r>
              <a:rPr lang="en-GB" dirty="0"/>
              <a:t>N=10,c=5</a:t>
            </a:r>
          </a:p>
        </p:txBody>
      </p:sp>
      <p:sp>
        <p:nvSpPr>
          <p:cNvPr id="20" name="TextBox 19">
            <a:extLst>
              <a:ext uri="{FF2B5EF4-FFF2-40B4-BE49-F238E27FC236}">
                <a16:creationId xmlns:a16="http://schemas.microsoft.com/office/drawing/2014/main" id="{26031470-6F2A-0D7D-4186-C23D91BCD245}"/>
              </a:ext>
            </a:extLst>
          </p:cNvPr>
          <p:cNvSpPr txBox="1"/>
          <p:nvPr/>
        </p:nvSpPr>
        <p:spPr>
          <a:xfrm>
            <a:off x="10437959" y="2750353"/>
            <a:ext cx="2192942" cy="369332"/>
          </a:xfrm>
          <a:prstGeom prst="rect">
            <a:avLst/>
          </a:prstGeom>
          <a:noFill/>
        </p:spPr>
        <p:txBody>
          <a:bodyPr wrap="square" rtlCol="0">
            <a:spAutoFit/>
          </a:bodyPr>
          <a:lstStyle/>
          <a:p>
            <a:r>
              <a:rPr lang="en-GB" dirty="0"/>
              <a:t>N=100,c=4</a:t>
            </a:r>
          </a:p>
        </p:txBody>
      </p:sp>
      <p:sp>
        <p:nvSpPr>
          <p:cNvPr id="21" name="TextBox 20">
            <a:extLst>
              <a:ext uri="{FF2B5EF4-FFF2-40B4-BE49-F238E27FC236}">
                <a16:creationId xmlns:a16="http://schemas.microsoft.com/office/drawing/2014/main" id="{65A51BEE-D5B4-0505-3EFC-4892B2A4ACA9}"/>
              </a:ext>
            </a:extLst>
          </p:cNvPr>
          <p:cNvSpPr txBox="1"/>
          <p:nvPr/>
        </p:nvSpPr>
        <p:spPr>
          <a:xfrm>
            <a:off x="10296236" y="6570749"/>
            <a:ext cx="2192942" cy="369332"/>
          </a:xfrm>
          <a:prstGeom prst="rect">
            <a:avLst/>
          </a:prstGeom>
          <a:noFill/>
        </p:spPr>
        <p:txBody>
          <a:bodyPr wrap="square" rtlCol="0">
            <a:spAutoFit/>
          </a:bodyPr>
          <a:lstStyle/>
          <a:p>
            <a:r>
              <a:rPr lang="en-GB" dirty="0"/>
              <a:t>N=100,c=5</a:t>
            </a:r>
          </a:p>
        </p:txBody>
      </p:sp>
      <p:pic>
        <p:nvPicPr>
          <p:cNvPr id="4" name="Picture 3">
            <a:extLst>
              <a:ext uri="{FF2B5EF4-FFF2-40B4-BE49-F238E27FC236}">
                <a16:creationId xmlns:a16="http://schemas.microsoft.com/office/drawing/2014/main" id="{AFCFF181-1A4C-0B36-2702-8D503D9D70A1}"/>
              </a:ext>
            </a:extLst>
          </p:cNvPr>
          <p:cNvPicPr>
            <a:picLocks noChangeAspect="1"/>
          </p:cNvPicPr>
          <p:nvPr/>
        </p:nvPicPr>
        <p:blipFill rotWithShape="1">
          <a:blip r:embed="rId2"/>
          <a:srcRect r="95404"/>
          <a:stretch/>
        </p:blipFill>
        <p:spPr>
          <a:xfrm>
            <a:off x="3538900" y="3507522"/>
            <a:ext cx="118145" cy="1966700"/>
          </a:xfrm>
          <a:prstGeom prst="rect">
            <a:avLst/>
          </a:prstGeom>
        </p:spPr>
      </p:pic>
      <p:pic>
        <p:nvPicPr>
          <p:cNvPr id="7" name="Picture 6">
            <a:extLst>
              <a:ext uri="{FF2B5EF4-FFF2-40B4-BE49-F238E27FC236}">
                <a16:creationId xmlns:a16="http://schemas.microsoft.com/office/drawing/2014/main" id="{E305EA68-C9B7-BDD9-1570-82CF395C4BCA}"/>
              </a:ext>
            </a:extLst>
          </p:cNvPr>
          <p:cNvPicPr>
            <a:picLocks noChangeAspect="1"/>
          </p:cNvPicPr>
          <p:nvPr/>
        </p:nvPicPr>
        <p:blipFill rotWithShape="1">
          <a:blip r:embed="rId2"/>
          <a:srcRect t="93470"/>
          <a:stretch/>
        </p:blipFill>
        <p:spPr>
          <a:xfrm>
            <a:off x="3710422" y="5429983"/>
            <a:ext cx="2581294" cy="128426"/>
          </a:xfrm>
          <a:prstGeom prst="rect">
            <a:avLst/>
          </a:prstGeom>
        </p:spPr>
      </p:pic>
      <p:pic>
        <p:nvPicPr>
          <p:cNvPr id="9" name="Picture 8">
            <a:extLst>
              <a:ext uri="{FF2B5EF4-FFF2-40B4-BE49-F238E27FC236}">
                <a16:creationId xmlns:a16="http://schemas.microsoft.com/office/drawing/2014/main" id="{99B3470B-527D-DCB4-AA07-A81B837CF258}"/>
              </a:ext>
            </a:extLst>
          </p:cNvPr>
          <p:cNvPicPr>
            <a:picLocks noChangeAspect="1"/>
          </p:cNvPicPr>
          <p:nvPr/>
        </p:nvPicPr>
        <p:blipFill rotWithShape="1">
          <a:blip r:embed="rId2"/>
          <a:srcRect t="93470"/>
          <a:stretch/>
        </p:blipFill>
        <p:spPr>
          <a:xfrm>
            <a:off x="6302320" y="5457891"/>
            <a:ext cx="2581294" cy="128426"/>
          </a:xfrm>
          <a:prstGeom prst="rect">
            <a:avLst/>
          </a:prstGeom>
        </p:spPr>
      </p:pic>
      <p:pic>
        <p:nvPicPr>
          <p:cNvPr id="11" name="Picture 10">
            <a:extLst>
              <a:ext uri="{FF2B5EF4-FFF2-40B4-BE49-F238E27FC236}">
                <a16:creationId xmlns:a16="http://schemas.microsoft.com/office/drawing/2014/main" id="{95AC7B58-5AD0-9E7C-2A8F-AC7C99CD3053}"/>
              </a:ext>
            </a:extLst>
          </p:cNvPr>
          <p:cNvPicPr>
            <a:picLocks noChangeAspect="1"/>
          </p:cNvPicPr>
          <p:nvPr/>
        </p:nvPicPr>
        <p:blipFill rotWithShape="1">
          <a:blip r:embed="rId2"/>
          <a:srcRect t="93470"/>
          <a:stretch/>
        </p:blipFill>
        <p:spPr>
          <a:xfrm>
            <a:off x="9034646" y="5437574"/>
            <a:ext cx="2581294" cy="128426"/>
          </a:xfrm>
          <a:prstGeom prst="rect">
            <a:avLst/>
          </a:prstGeom>
        </p:spPr>
      </p:pic>
      <p:pic>
        <p:nvPicPr>
          <p:cNvPr id="13" name="Picture 12">
            <a:extLst>
              <a:ext uri="{FF2B5EF4-FFF2-40B4-BE49-F238E27FC236}">
                <a16:creationId xmlns:a16="http://schemas.microsoft.com/office/drawing/2014/main" id="{974FF15F-053F-0BE2-9FA8-E11AA6D6470A}"/>
              </a:ext>
            </a:extLst>
          </p:cNvPr>
          <p:cNvPicPr>
            <a:picLocks noChangeAspect="1"/>
          </p:cNvPicPr>
          <p:nvPr/>
        </p:nvPicPr>
        <p:blipFill rotWithShape="1">
          <a:blip r:embed="rId2"/>
          <a:srcRect r="95404"/>
          <a:stretch/>
        </p:blipFill>
        <p:spPr>
          <a:xfrm>
            <a:off x="6191363" y="3631332"/>
            <a:ext cx="118145" cy="1966700"/>
          </a:xfrm>
          <a:prstGeom prst="rect">
            <a:avLst/>
          </a:prstGeom>
        </p:spPr>
      </p:pic>
      <p:pic>
        <p:nvPicPr>
          <p:cNvPr id="15" name="Picture 14">
            <a:extLst>
              <a:ext uri="{FF2B5EF4-FFF2-40B4-BE49-F238E27FC236}">
                <a16:creationId xmlns:a16="http://schemas.microsoft.com/office/drawing/2014/main" id="{A1FA10D8-4818-FAE0-6D87-2CA18BC6DA34}"/>
              </a:ext>
            </a:extLst>
          </p:cNvPr>
          <p:cNvPicPr>
            <a:picLocks noChangeAspect="1"/>
          </p:cNvPicPr>
          <p:nvPr/>
        </p:nvPicPr>
        <p:blipFill rotWithShape="1">
          <a:blip r:embed="rId2"/>
          <a:srcRect r="95404"/>
          <a:stretch/>
        </p:blipFill>
        <p:spPr>
          <a:xfrm>
            <a:off x="8872414" y="3704415"/>
            <a:ext cx="118145" cy="1966700"/>
          </a:xfrm>
          <a:prstGeom prst="rect">
            <a:avLst/>
          </a:prstGeom>
        </p:spPr>
      </p:pic>
      <p:sp>
        <p:nvSpPr>
          <p:cNvPr id="17" name="TextBox 16">
            <a:extLst>
              <a:ext uri="{FF2B5EF4-FFF2-40B4-BE49-F238E27FC236}">
                <a16:creationId xmlns:a16="http://schemas.microsoft.com/office/drawing/2014/main" id="{E2473DD8-11BC-5D62-D606-3AB04B03DF72}"/>
              </a:ext>
            </a:extLst>
          </p:cNvPr>
          <p:cNvSpPr txBox="1"/>
          <p:nvPr/>
        </p:nvSpPr>
        <p:spPr>
          <a:xfrm>
            <a:off x="1140430" y="5528330"/>
            <a:ext cx="12154329" cy="307777"/>
          </a:xfrm>
          <a:prstGeom prst="rect">
            <a:avLst/>
          </a:prstGeom>
          <a:noFill/>
        </p:spPr>
        <p:txBody>
          <a:bodyPr wrap="square" rtlCol="0">
            <a:spAutoFit/>
          </a:bodyPr>
          <a:lstStyle/>
          <a:p>
            <a:r>
              <a:rPr lang="en-GB" sz="1400" dirty="0">
                <a:latin typeface="Abadi" panose="020B0604020104020204" pitchFamily="34" charset="0"/>
              </a:rPr>
              <a:t>                  N=3, c=3                                  N=10, c=5                             N=100, c=4                            N=100, c=5                                              </a:t>
            </a:r>
          </a:p>
        </p:txBody>
      </p:sp>
    </p:spTree>
    <p:extLst>
      <p:ext uri="{BB962C8B-B14F-4D97-AF65-F5344CB8AC3E}">
        <p14:creationId xmlns:p14="http://schemas.microsoft.com/office/powerpoint/2010/main" val="2658521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63E3DD50-0FFA-6DCB-804C-3C741109EB8A}"/>
              </a:ext>
            </a:extLst>
          </p:cNvPr>
          <p:cNvSpPr/>
          <p:nvPr/>
        </p:nvSpPr>
        <p:spPr>
          <a:xfrm>
            <a:off x="914400" y="3244131"/>
            <a:ext cx="667909" cy="66790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FCD3B43B-CFC9-31EF-8295-034D284E5A75}"/>
              </a:ext>
            </a:extLst>
          </p:cNvPr>
          <p:cNvSpPr/>
          <p:nvPr/>
        </p:nvSpPr>
        <p:spPr>
          <a:xfrm>
            <a:off x="2490084" y="1472316"/>
            <a:ext cx="667909" cy="667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90A5543D-1CC3-44DB-BF84-1918109B9770}"/>
              </a:ext>
            </a:extLst>
          </p:cNvPr>
          <p:cNvSpPr/>
          <p:nvPr/>
        </p:nvSpPr>
        <p:spPr>
          <a:xfrm>
            <a:off x="3157993" y="2910177"/>
            <a:ext cx="667909" cy="667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a:extLst>
              <a:ext uri="{FF2B5EF4-FFF2-40B4-BE49-F238E27FC236}">
                <a16:creationId xmlns:a16="http://schemas.microsoft.com/office/drawing/2014/main" id="{82F5D7D7-5272-5B44-8BD0-9CA8AD83FF91}"/>
              </a:ext>
            </a:extLst>
          </p:cNvPr>
          <p:cNvCxnSpPr>
            <a:cxnSpLocks/>
          </p:cNvCxnSpPr>
          <p:nvPr/>
        </p:nvCxnSpPr>
        <p:spPr>
          <a:xfrm flipV="1">
            <a:off x="1413470" y="1967845"/>
            <a:ext cx="1109334" cy="12739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9FA7A8A-5B8E-C919-4EAB-3BF66A9EF7DE}"/>
              </a:ext>
            </a:extLst>
          </p:cNvPr>
          <p:cNvCxnSpPr>
            <a:cxnSpLocks/>
            <a:stCxn id="4" idx="6"/>
            <a:endCxn id="6" idx="2"/>
          </p:cNvCxnSpPr>
          <p:nvPr/>
        </p:nvCxnSpPr>
        <p:spPr>
          <a:xfrm flipV="1">
            <a:off x="1582309" y="3244132"/>
            <a:ext cx="1575684" cy="333954"/>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4B929AE-C1B4-3483-2BEE-6AEDB935B17F}"/>
              </a:ext>
            </a:extLst>
          </p:cNvPr>
          <p:cNvCxnSpPr>
            <a:cxnSpLocks/>
            <a:stCxn id="6" idx="0"/>
            <a:endCxn id="5" idx="5"/>
          </p:cNvCxnSpPr>
          <p:nvPr/>
        </p:nvCxnSpPr>
        <p:spPr>
          <a:xfrm flipH="1" flipV="1">
            <a:off x="3060180" y="2042412"/>
            <a:ext cx="431768" cy="867765"/>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A8A0F62-9860-E555-9705-3B036D542343}"/>
              </a:ext>
            </a:extLst>
          </p:cNvPr>
          <p:cNvSpPr txBox="1"/>
          <p:nvPr/>
        </p:nvSpPr>
        <p:spPr>
          <a:xfrm>
            <a:off x="1083239" y="3312141"/>
            <a:ext cx="401257" cy="477054"/>
          </a:xfrm>
          <a:prstGeom prst="rect">
            <a:avLst/>
          </a:prstGeom>
          <a:noFill/>
        </p:spPr>
        <p:txBody>
          <a:bodyPr wrap="square" rtlCol="0">
            <a:spAutoFit/>
          </a:bodyPr>
          <a:lstStyle/>
          <a:p>
            <a:r>
              <a:rPr lang="en-GB" sz="2500" dirty="0">
                <a:solidFill>
                  <a:schemeClr val="bg1"/>
                </a:solidFill>
                <a:latin typeface="Abadi" panose="020B0604020104020204" pitchFamily="34" charset="0"/>
              </a:rPr>
              <a:t>0</a:t>
            </a:r>
          </a:p>
        </p:txBody>
      </p:sp>
      <p:sp>
        <p:nvSpPr>
          <p:cNvPr id="11" name="TextBox 10">
            <a:extLst>
              <a:ext uri="{FF2B5EF4-FFF2-40B4-BE49-F238E27FC236}">
                <a16:creationId xmlns:a16="http://schemas.microsoft.com/office/drawing/2014/main" id="{ACDFDAAB-1F65-9ECA-277D-4505F4C3F434}"/>
              </a:ext>
            </a:extLst>
          </p:cNvPr>
          <p:cNvSpPr txBox="1"/>
          <p:nvPr/>
        </p:nvSpPr>
        <p:spPr>
          <a:xfrm>
            <a:off x="2658923" y="1542093"/>
            <a:ext cx="401257" cy="477054"/>
          </a:xfrm>
          <a:prstGeom prst="rect">
            <a:avLst/>
          </a:prstGeom>
          <a:noFill/>
        </p:spPr>
        <p:txBody>
          <a:bodyPr wrap="square" rtlCol="0">
            <a:spAutoFit/>
          </a:bodyPr>
          <a:lstStyle/>
          <a:p>
            <a:r>
              <a:rPr lang="en-GB" sz="2500" dirty="0">
                <a:solidFill>
                  <a:schemeClr val="bg1"/>
                </a:solidFill>
                <a:latin typeface="Abadi" panose="020B0604020104020204" pitchFamily="34" charset="0"/>
              </a:rPr>
              <a:t>1</a:t>
            </a:r>
          </a:p>
        </p:txBody>
      </p:sp>
      <p:sp>
        <p:nvSpPr>
          <p:cNvPr id="12" name="TextBox 11">
            <a:extLst>
              <a:ext uri="{FF2B5EF4-FFF2-40B4-BE49-F238E27FC236}">
                <a16:creationId xmlns:a16="http://schemas.microsoft.com/office/drawing/2014/main" id="{7C636FEB-157A-05C4-8B01-75953129511B}"/>
              </a:ext>
            </a:extLst>
          </p:cNvPr>
          <p:cNvSpPr txBox="1"/>
          <p:nvPr/>
        </p:nvSpPr>
        <p:spPr>
          <a:xfrm>
            <a:off x="3326832" y="3003219"/>
            <a:ext cx="401257" cy="477054"/>
          </a:xfrm>
          <a:prstGeom prst="rect">
            <a:avLst/>
          </a:prstGeom>
          <a:noFill/>
        </p:spPr>
        <p:txBody>
          <a:bodyPr wrap="square" rtlCol="0">
            <a:spAutoFit/>
          </a:bodyPr>
          <a:lstStyle/>
          <a:p>
            <a:r>
              <a:rPr lang="en-GB" sz="2500" dirty="0">
                <a:solidFill>
                  <a:schemeClr val="bg1"/>
                </a:solidFill>
                <a:latin typeface="Abadi" panose="020B0604020104020204" pitchFamily="34" charset="0"/>
              </a:rPr>
              <a:t>2</a:t>
            </a:r>
          </a:p>
        </p:txBody>
      </p:sp>
      <p:graphicFrame>
        <p:nvGraphicFramePr>
          <p:cNvPr id="13" name="Table 13">
            <a:extLst>
              <a:ext uri="{FF2B5EF4-FFF2-40B4-BE49-F238E27FC236}">
                <a16:creationId xmlns:a16="http://schemas.microsoft.com/office/drawing/2014/main" id="{EE7AF2A7-8549-FF2A-00F6-C3422E8F8AD4}"/>
              </a:ext>
            </a:extLst>
          </p:cNvPr>
          <p:cNvGraphicFramePr>
            <a:graphicFrameLocks noGrp="1"/>
          </p:cNvGraphicFramePr>
          <p:nvPr>
            <p:extLst>
              <p:ext uri="{D42A27DB-BD31-4B8C-83A1-F6EECF244321}">
                <p14:modId xmlns:p14="http://schemas.microsoft.com/office/powerpoint/2010/main" val="1559167860"/>
              </p:ext>
            </p:extLst>
          </p:nvPr>
        </p:nvGraphicFramePr>
        <p:xfrm>
          <a:off x="3994741" y="723535"/>
          <a:ext cx="8083288" cy="4194816"/>
        </p:xfrm>
        <a:graphic>
          <a:graphicData uri="http://schemas.openxmlformats.org/drawingml/2006/table">
            <a:tbl>
              <a:tblPr firstRow="1" bandRow="1">
                <a:tableStyleId>{5940675A-B579-460E-94D1-54222C63F5DA}</a:tableStyleId>
              </a:tblPr>
              <a:tblGrid>
                <a:gridCol w="2020822">
                  <a:extLst>
                    <a:ext uri="{9D8B030D-6E8A-4147-A177-3AD203B41FA5}">
                      <a16:colId xmlns:a16="http://schemas.microsoft.com/office/drawing/2014/main" val="2810659711"/>
                    </a:ext>
                  </a:extLst>
                </a:gridCol>
                <a:gridCol w="2020822">
                  <a:extLst>
                    <a:ext uri="{9D8B030D-6E8A-4147-A177-3AD203B41FA5}">
                      <a16:colId xmlns:a16="http://schemas.microsoft.com/office/drawing/2014/main" val="888488991"/>
                    </a:ext>
                  </a:extLst>
                </a:gridCol>
                <a:gridCol w="2020822">
                  <a:extLst>
                    <a:ext uri="{9D8B030D-6E8A-4147-A177-3AD203B41FA5}">
                      <a16:colId xmlns:a16="http://schemas.microsoft.com/office/drawing/2014/main" val="3383848100"/>
                    </a:ext>
                  </a:extLst>
                </a:gridCol>
                <a:gridCol w="2020822">
                  <a:extLst>
                    <a:ext uri="{9D8B030D-6E8A-4147-A177-3AD203B41FA5}">
                      <a16:colId xmlns:a16="http://schemas.microsoft.com/office/drawing/2014/main" val="3005405699"/>
                    </a:ext>
                  </a:extLst>
                </a:gridCol>
              </a:tblGrid>
              <a:tr h="451488">
                <a:tc>
                  <a:txBody>
                    <a:bodyPr/>
                    <a:lstStyle/>
                    <a:p>
                      <a:r>
                        <a:rPr lang="en-GB" sz="1600" dirty="0">
                          <a:latin typeface="Abadi" panose="020B0604020104020204" pitchFamily="34" charset="0"/>
                        </a:rPr>
                        <a:t>Time step</a:t>
                      </a:r>
                    </a:p>
                  </a:txBody>
                  <a:tcPr/>
                </a:tc>
                <a:tc>
                  <a:txBody>
                    <a:bodyPr/>
                    <a:lstStyle/>
                    <a:p>
                      <a:r>
                        <a:rPr lang="en-GB" sz="1600" dirty="0">
                          <a:latin typeface="Abadi" panose="020B0604020104020204" pitchFamily="34" charset="0"/>
                        </a:rPr>
                        <a:t>State of node 0</a:t>
                      </a:r>
                    </a:p>
                  </a:txBody>
                  <a:tcPr/>
                </a:tc>
                <a:tc>
                  <a:txBody>
                    <a:bodyPr/>
                    <a:lstStyle/>
                    <a:p>
                      <a:r>
                        <a:rPr lang="en-GB" sz="1600" dirty="0">
                          <a:latin typeface="Abadi" panose="020B0604020104020204" pitchFamily="34" charset="0"/>
                        </a:rPr>
                        <a:t>State of node 1</a:t>
                      </a:r>
                    </a:p>
                  </a:txBody>
                  <a:tcPr/>
                </a:tc>
                <a:tc>
                  <a:txBody>
                    <a:bodyPr/>
                    <a:lstStyle/>
                    <a:p>
                      <a:r>
                        <a:rPr lang="en-GB" sz="1600" dirty="0">
                          <a:latin typeface="Abadi" panose="020B0604020104020204" pitchFamily="34" charset="0"/>
                        </a:rPr>
                        <a:t>State of node 2</a:t>
                      </a:r>
                    </a:p>
                  </a:txBody>
                  <a:tcPr/>
                </a:tc>
                <a:extLst>
                  <a:ext uri="{0D108BD9-81ED-4DB2-BD59-A6C34878D82A}">
                    <a16:rowId xmlns:a16="http://schemas.microsoft.com/office/drawing/2014/main" val="1672266042"/>
                  </a:ext>
                </a:extLst>
              </a:tr>
              <a:tr h="451488">
                <a:tc>
                  <a:txBody>
                    <a:bodyPr/>
                    <a:lstStyle/>
                    <a:p>
                      <a:r>
                        <a:rPr lang="en-GB" sz="1600" dirty="0">
                          <a:latin typeface="Abadi" panose="020B0604020104020204" pitchFamily="34" charset="0"/>
                        </a:rPr>
                        <a:t>t=0</a:t>
                      </a:r>
                    </a:p>
                  </a:txBody>
                  <a:tcPr/>
                </a:tc>
                <a:tc>
                  <a:txBody>
                    <a:bodyPr/>
                    <a:lstStyle/>
                    <a:p>
                      <a:r>
                        <a:rPr lang="en-GB" sz="1600" dirty="0">
                          <a:latin typeface="Abadi" panose="020B0604020104020204" pitchFamily="34" charset="0"/>
                        </a:rPr>
                        <a:t>1</a:t>
                      </a:r>
                    </a:p>
                  </a:txBody>
                  <a:tcPr/>
                </a:tc>
                <a:tc>
                  <a:txBody>
                    <a:bodyPr/>
                    <a:lstStyle/>
                    <a:p>
                      <a:r>
                        <a:rPr lang="en-GB" sz="1600" dirty="0">
                          <a:latin typeface="Abadi" panose="020B0604020104020204" pitchFamily="34" charset="0"/>
                        </a:rPr>
                        <a:t>1</a:t>
                      </a:r>
                    </a:p>
                  </a:txBody>
                  <a:tcPr/>
                </a:tc>
                <a:tc>
                  <a:txBody>
                    <a:bodyPr/>
                    <a:lstStyle/>
                    <a:p>
                      <a:r>
                        <a:rPr lang="en-GB" sz="1600" dirty="0">
                          <a:latin typeface="Abadi" panose="020B0604020104020204" pitchFamily="34" charset="0"/>
                        </a:rPr>
                        <a:t>1</a:t>
                      </a:r>
                    </a:p>
                  </a:txBody>
                  <a:tcPr/>
                </a:tc>
                <a:extLst>
                  <a:ext uri="{0D108BD9-81ED-4DB2-BD59-A6C34878D82A}">
                    <a16:rowId xmlns:a16="http://schemas.microsoft.com/office/drawing/2014/main" val="2614473630"/>
                  </a:ext>
                </a:extLst>
              </a:tr>
              <a:tr h="723661">
                <a:tc>
                  <a:txBody>
                    <a:bodyPr/>
                    <a:lstStyle/>
                    <a:p>
                      <a:r>
                        <a:rPr lang="en-GB" sz="1600" dirty="0">
                          <a:latin typeface="Abadi" panose="020B0604020104020204" pitchFamily="34" charset="0"/>
                        </a:rPr>
                        <a:t>t=1</a:t>
                      </a:r>
                    </a:p>
                  </a:txBody>
                  <a:tcPr/>
                </a:tc>
                <a:tc>
                  <a:txBody>
                    <a:bodyPr/>
                    <a:lstStyle/>
                    <a:p>
                      <a:r>
                        <a:rPr lang="en-GB" sz="1600" dirty="0">
                          <a:latin typeface="Abadi" panose="020B0604020104020204" pitchFamily="34" charset="0"/>
                        </a:rPr>
                        <a:t>S=(-1)*1+(+1)*1=0 </a:t>
                      </a:r>
                    </a:p>
                    <a:p>
                      <a:r>
                        <a:rPr lang="en-GB" sz="1600" dirty="0">
                          <a:latin typeface="Abadi" panose="020B0604020104020204" pitchFamily="34" charset="0"/>
                        </a:rPr>
                        <a:t>Set to OFF</a:t>
                      </a:r>
                    </a:p>
                    <a:p>
                      <a:r>
                        <a:rPr lang="en-GB" sz="1600" dirty="0">
                          <a:latin typeface="Abadi" panose="020B0604020104020204" pitchFamily="34" charset="0"/>
                        </a:rPr>
                        <a:t>0</a:t>
                      </a:r>
                    </a:p>
                  </a:txBody>
                  <a:tcPr/>
                </a:tc>
                <a:tc>
                  <a:txBody>
                    <a:bodyPr/>
                    <a:lstStyle/>
                    <a:p>
                      <a:r>
                        <a:rPr lang="en-GB" sz="1600" dirty="0">
                          <a:latin typeface="Abadi" panose="020B0604020104020204" pitchFamily="34" charset="0"/>
                        </a:rPr>
                        <a:t>S=(+1)*1+(-1)*1=0</a:t>
                      </a:r>
                    </a:p>
                    <a:p>
                      <a:r>
                        <a:rPr lang="en-GB" sz="1600" dirty="0">
                          <a:latin typeface="Abadi" panose="020B0604020104020204" pitchFamily="34" charset="0"/>
                        </a:rPr>
                        <a:t>Set to OFF</a:t>
                      </a:r>
                    </a:p>
                    <a:p>
                      <a:r>
                        <a:rPr lang="en-GB" sz="1600" dirty="0">
                          <a:latin typeface="Abadi" panose="020B0604020104020204" pitchFamily="34" charset="0"/>
                        </a:rPr>
                        <a:t>0</a:t>
                      </a:r>
                    </a:p>
                  </a:txBody>
                  <a:tcPr/>
                </a:tc>
                <a:tc>
                  <a:txBody>
                    <a:bodyPr/>
                    <a:lstStyle/>
                    <a:p>
                      <a:r>
                        <a:rPr lang="en-GB" sz="1600" dirty="0">
                          <a:latin typeface="Abadi" panose="020B0604020104020204" pitchFamily="34" charset="0"/>
                        </a:rPr>
                        <a:t>S=(+1)*1+(+1)*1=2</a:t>
                      </a:r>
                    </a:p>
                    <a:p>
                      <a:r>
                        <a:rPr lang="en-GB" sz="1600" dirty="0">
                          <a:latin typeface="Abadi" panose="020B0604020104020204" pitchFamily="34" charset="0"/>
                        </a:rPr>
                        <a:t>Set to ON</a:t>
                      </a:r>
                    </a:p>
                    <a:p>
                      <a:r>
                        <a:rPr lang="en-GB" sz="1600" dirty="0">
                          <a:latin typeface="Abadi" panose="020B0604020104020204" pitchFamily="34" charset="0"/>
                        </a:rPr>
                        <a:t>1</a:t>
                      </a:r>
                    </a:p>
                  </a:txBody>
                  <a:tcPr/>
                </a:tc>
                <a:extLst>
                  <a:ext uri="{0D108BD9-81ED-4DB2-BD59-A6C34878D82A}">
                    <a16:rowId xmlns:a16="http://schemas.microsoft.com/office/drawing/2014/main" val="2358571334"/>
                  </a:ext>
                </a:extLst>
              </a:tr>
              <a:tr h="558253">
                <a:tc>
                  <a:txBody>
                    <a:bodyPr/>
                    <a:lstStyle/>
                    <a:p>
                      <a:r>
                        <a:rPr lang="en-GB" sz="1600" dirty="0">
                          <a:latin typeface="Abadi" panose="020B0604020104020204" pitchFamily="34" charset="0"/>
                        </a:rPr>
                        <a:t>t=2</a:t>
                      </a:r>
                    </a:p>
                  </a:txBody>
                  <a:tcPr/>
                </a:tc>
                <a:tc>
                  <a:txBody>
                    <a:bodyPr/>
                    <a:lstStyle/>
                    <a:p>
                      <a:r>
                        <a:rPr lang="en-GB" sz="1600" dirty="0">
                          <a:latin typeface="Abadi" panose="020B0604020104020204" pitchFamily="34" charset="0"/>
                        </a:rPr>
                        <a:t>S=(+1)*1=1</a:t>
                      </a:r>
                    </a:p>
                    <a:p>
                      <a:r>
                        <a:rPr lang="en-GB" sz="1600" dirty="0">
                          <a:latin typeface="Abadi" panose="020B0604020104020204" pitchFamily="34" charset="0"/>
                        </a:rPr>
                        <a:t>Set to ON</a:t>
                      </a:r>
                    </a:p>
                    <a:p>
                      <a:r>
                        <a:rPr lang="en-GB" sz="1600" dirty="0">
                          <a:latin typeface="Abadi" panose="020B0604020104020204" pitchFamily="34" charset="0"/>
                        </a:rPr>
                        <a:t>1</a:t>
                      </a:r>
                    </a:p>
                  </a:txBody>
                  <a:tcPr/>
                </a:tc>
                <a:tc>
                  <a:txBody>
                    <a:bodyPr/>
                    <a:lstStyle/>
                    <a:p>
                      <a:r>
                        <a:rPr lang="en-GB" sz="1600" dirty="0">
                          <a:latin typeface="Abadi" panose="020B0604020104020204" pitchFamily="34" charset="0"/>
                        </a:rPr>
                        <a:t>S=(+1)*1=1</a:t>
                      </a:r>
                    </a:p>
                    <a:p>
                      <a:r>
                        <a:rPr lang="en-GB" sz="1600" dirty="0">
                          <a:latin typeface="Abadi" panose="020B0604020104020204" pitchFamily="34" charset="0"/>
                        </a:rPr>
                        <a:t>Set to ON</a:t>
                      </a:r>
                    </a:p>
                    <a:p>
                      <a:r>
                        <a:rPr lang="en-GB" sz="1600" dirty="0">
                          <a:latin typeface="Abadi" panose="020B0604020104020204" pitchFamily="34" charset="0"/>
                        </a:rPr>
                        <a:t>1</a:t>
                      </a:r>
                    </a:p>
                  </a:txBody>
                  <a:tcPr/>
                </a:tc>
                <a:tc>
                  <a:txBody>
                    <a:bodyPr/>
                    <a:lstStyle/>
                    <a:p>
                      <a:r>
                        <a:rPr lang="en-GB" sz="1600" dirty="0">
                          <a:latin typeface="Abadi" panose="020B0604020104020204" pitchFamily="34" charset="0"/>
                        </a:rPr>
                        <a:t>S=0</a:t>
                      </a:r>
                    </a:p>
                    <a:p>
                      <a:r>
                        <a:rPr lang="en-GB" sz="1600" dirty="0">
                          <a:latin typeface="Abadi" panose="020B0604020104020204" pitchFamily="34" charset="0"/>
                        </a:rPr>
                        <a:t>Set to OFF</a:t>
                      </a:r>
                    </a:p>
                    <a:p>
                      <a:r>
                        <a:rPr lang="en-GB" sz="1600" dirty="0">
                          <a:latin typeface="Abadi" panose="020B0604020104020204" pitchFamily="34" charset="0"/>
                        </a:rPr>
                        <a:t>0</a:t>
                      </a:r>
                    </a:p>
                  </a:txBody>
                  <a:tcPr/>
                </a:tc>
                <a:extLst>
                  <a:ext uri="{0D108BD9-81ED-4DB2-BD59-A6C34878D82A}">
                    <a16:rowId xmlns:a16="http://schemas.microsoft.com/office/drawing/2014/main" val="2378360879"/>
                  </a:ext>
                </a:extLst>
              </a:tr>
              <a:tr h="723661">
                <a:tc>
                  <a:txBody>
                    <a:bodyPr/>
                    <a:lstStyle/>
                    <a:p>
                      <a:r>
                        <a:rPr lang="en-GB" sz="1600" dirty="0">
                          <a:latin typeface="Abadi" panose="020B0604020104020204" pitchFamily="34" charset="0"/>
                        </a:rPr>
                        <a:t>t=3</a:t>
                      </a:r>
                    </a:p>
                  </a:txBody>
                  <a:tcPr/>
                </a:tc>
                <a:tc>
                  <a:txBody>
                    <a:bodyPr/>
                    <a:lstStyle/>
                    <a:p>
                      <a:r>
                        <a:rPr lang="en-GB" sz="1600" dirty="0">
                          <a:latin typeface="Abadi" panose="020B0604020104020204" pitchFamily="34" charset="0"/>
                        </a:rPr>
                        <a:t>S=(-1)*1+(+1)*1=0 </a:t>
                      </a:r>
                    </a:p>
                    <a:p>
                      <a:r>
                        <a:rPr lang="en-GB" sz="1600" dirty="0">
                          <a:latin typeface="Abadi" panose="020B0604020104020204" pitchFamily="34" charset="0"/>
                        </a:rPr>
                        <a:t>Set to OFF</a:t>
                      </a:r>
                    </a:p>
                    <a:p>
                      <a:r>
                        <a:rPr lang="en-GB" sz="1600" dirty="0">
                          <a:latin typeface="Abadi" panose="020B0604020104020204" pitchFamily="34" charset="0"/>
                        </a:rPr>
                        <a:t>0</a:t>
                      </a:r>
                    </a:p>
                  </a:txBody>
                  <a:tcPr/>
                </a:tc>
                <a:tc>
                  <a:txBody>
                    <a:bodyPr/>
                    <a:lstStyle/>
                    <a:p>
                      <a:r>
                        <a:rPr lang="en-GB" sz="1600" dirty="0">
                          <a:latin typeface="Abadi" panose="020B0604020104020204" pitchFamily="34" charset="0"/>
                        </a:rPr>
                        <a:t>S=(+1)*1+(-1)*1=0</a:t>
                      </a:r>
                    </a:p>
                    <a:p>
                      <a:r>
                        <a:rPr lang="en-GB" sz="1600" dirty="0">
                          <a:latin typeface="Abadi" panose="020B0604020104020204" pitchFamily="34" charset="0"/>
                        </a:rPr>
                        <a:t>Set to OFF</a:t>
                      </a:r>
                    </a:p>
                    <a:p>
                      <a:r>
                        <a:rPr lang="en-GB" sz="1600" dirty="0">
                          <a:latin typeface="Abadi" panose="020B0604020104020204" pitchFamily="34" charset="0"/>
                        </a:rPr>
                        <a:t>0</a:t>
                      </a:r>
                    </a:p>
                  </a:txBody>
                  <a:tcPr/>
                </a:tc>
                <a:tc>
                  <a:txBody>
                    <a:bodyPr/>
                    <a:lstStyle/>
                    <a:p>
                      <a:r>
                        <a:rPr lang="en-GB" sz="1600" dirty="0">
                          <a:latin typeface="Abadi" panose="020B0604020104020204" pitchFamily="34" charset="0"/>
                        </a:rPr>
                        <a:t>S=(+1)*1+(+1)*1=2</a:t>
                      </a:r>
                    </a:p>
                    <a:p>
                      <a:r>
                        <a:rPr lang="en-GB" sz="1600" dirty="0">
                          <a:latin typeface="Abadi" panose="020B0604020104020204" pitchFamily="34" charset="0"/>
                        </a:rPr>
                        <a:t>Set to ON</a:t>
                      </a:r>
                    </a:p>
                    <a:p>
                      <a:r>
                        <a:rPr lang="en-GB" sz="1600" dirty="0">
                          <a:latin typeface="Abadi" panose="020B0604020104020204" pitchFamily="34" charset="0"/>
                        </a:rPr>
                        <a:t>1</a:t>
                      </a:r>
                    </a:p>
                  </a:txBody>
                  <a:tcPr/>
                </a:tc>
                <a:extLst>
                  <a:ext uri="{0D108BD9-81ED-4DB2-BD59-A6C34878D82A}">
                    <a16:rowId xmlns:a16="http://schemas.microsoft.com/office/drawing/2014/main" val="2151860322"/>
                  </a:ext>
                </a:extLst>
              </a:tr>
              <a:tr h="558253">
                <a:tc>
                  <a:txBody>
                    <a:bodyPr/>
                    <a:lstStyle/>
                    <a:p>
                      <a:r>
                        <a:rPr lang="en-GB" sz="1600" dirty="0">
                          <a:latin typeface="Abadi" panose="020B0604020104020204" pitchFamily="34" charset="0"/>
                        </a:rPr>
                        <a:t>t=2</a:t>
                      </a:r>
                    </a:p>
                  </a:txBody>
                  <a:tcPr/>
                </a:tc>
                <a:tc>
                  <a:txBody>
                    <a:bodyPr/>
                    <a:lstStyle/>
                    <a:p>
                      <a:r>
                        <a:rPr lang="en-GB" sz="1600" dirty="0">
                          <a:latin typeface="Abadi" panose="020B0604020104020204" pitchFamily="34" charset="0"/>
                        </a:rPr>
                        <a:t>S=(+1)*1=1</a:t>
                      </a:r>
                    </a:p>
                    <a:p>
                      <a:r>
                        <a:rPr lang="en-GB" sz="1600" dirty="0">
                          <a:latin typeface="Abadi" panose="020B0604020104020204" pitchFamily="34" charset="0"/>
                        </a:rPr>
                        <a:t>Set to ON</a:t>
                      </a:r>
                    </a:p>
                    <a:p>
                      <a:r>
                        <a:rPr lang="en-GB" sz="1600" dirty="0">
                          <a:latin typeface="Abadi" panose="020B0604020104020204" pitchFamily="34" charset="0"/>
                        </a:rPr>
                        <a:t>1</a:t>
                      </a:r>
                    </a:p>
                  </a:txBody>
                  <a:tcPr/>
                </a:tc>
                <a:tc>
                  <a:txBody>
                    <a:bodyPr/>
                    <a:lstStyle/>
                    <a:p>
                      <a:r>
                        <a:rPr lang="en-GB" sz="1600" dirty="0">
                          <a:latin typeface="Abadi" panose="020B0604020104020204" pitchFamily="34" charset="0"/>
                        </a:rPr>
                        <a:t>S=(+1)*1=1</a:t>
                      </a:r>
                    </a:p>
                    <a:p>
                      <a:r>
                        <a:rPr lang="en-GB" sz="1600" dirty="0">
                          <a:latin typeface="Abadi" panose="020B0604020104020204" pitchFamily="34" charset="0"/>
                        </a:rPr>
                        <a:t>Set to ON</a:t>
                      </a:r>
                    </a:p>
                    <a:p>
                      <a:r>
                        <a:rPr lang="en-GB" sz="1600" dirty="0">
                          <a:latin typeface="Abadi" panose="020B0604020104020204" pitchFamily="34" charset="0"/>
                        </a:rPr>
                        <a:t>1</a:t>
                      </a:r>
                    </a:p>
                  </a:txBody>
                  <a:tcPr/>
                </a:tc>
                <a:tc>
                  <a:txBody>
                    <a:bodyPr/>
                    <a:lstStyle/>
                    <a:p>
                      <a:r>
                        <a:rPr lang="en-GB" sz="1600" dirty="0">
                          <a:latin typeface="Abadi" panose="020B0604020104020204" pitchFamily="34" charset="0"/>
                        </a:rPr>
                        <a:t>S=0</a:t>
                      </a:r>
                    </a:p>
                    <a:p>
                      <a:r>
                        <a:rPr lang="en-GB" sz="1600" dirty="0">
                          <a:latin typeface="Abadi" panose="020B0604020104020204" pitchFamily="34" charset="0"/>
                        </a:rPr>
                        <a:t>Set to OFF</a:t>
                      </a:r>
                    </a:p>
                    <a:p>
                      <a:r>
                        <a:rPr lang="en-GB" sz="1600" dirty="0">
                          <a:latin typeface="Abadi" panose="020B0604020104020204" pitchFamily="34" charset="0"/>
                        </a:rPr>
                        <a:t>0</a:t>
                      </a:r>
                    </a:p>
                  </a:txBody>
                  <a:tcPr/>
                </a:tc>
                <a:extLst>
                  <a:ext uri="{0D108BD9-81ED-4DB2-BD59-A6C34878D82A}">
                    <a16:rowId xmlns:a16="http://schemas.microsoft.com/office/drawing/2014/main" val="2500847239"/>
                  </a:ext>
                </a:extLst>
              </a:tr>
            </a:tbl>
          </a:graphicData>
        </a:graphic>
      </p:graphicFrame>
      <p:cxnSp>
        <p:nvCxnSpPr>
          <p:cNvPr id="17" name="Straight Arrow Connector 16">
            <a:extLst>
              <a:ext uri="{FF2B5EF4-FFF2-40B4-BE49-F238E27FC236}">
                <a16:creationId xmlns:a16="http://schemas.microsoft.com/office/drawing/2014/main" id="{C0CA43E3-6B50-982D-71BA-67769DC7D798}"/>
              </a:ext>
            </a:extLst>
          </p:cNvPr>
          <p:cNvCxnSpPr>
            <a:cxnSpLocks/>
          </p:cNvCxnSpPr>
          <p:nvPr/>
        </p:nvCxnSpPr>
        <p:spPr>
          <a:xfrm flipH="1">
            <a:off x="1530248" y="2088924"/>
            <a:ext cx="1180736" cy="13680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BE625AE-B4A6-E93F-455B-437BFAF77911}"/>
              </a:ext>
            </a:extLst>
          </p:cNvPr>
          <p:cNvCxnSpPr>
            <a:stCxn id="6" idx="3"/>
          </p:cNvCxnSpPr>
          <p:nvPr/>
        </p:nvCxnSpPr>
        <p:spPr>
          <a:xfrm flipH="1">
            <a:off x="1530248" y="3480273"/>
            <a:ext cx="1725558" cy="30892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FA8884A-EA20-901B-FE34-F83EC9050410}"/>
              </a:ext>
            </a:extLst>
          </p:cNvPr>
          <p:cNvCxnSpPr>
            <a:stCxn id="5" idx="4"/>
            <a:endCxn id="6" idx="1"/>
          </p:cNvCxnSpPr>
          <p:nvPr/>
        </p:nvCxnSpPr>
        <p:spPr>
          <a:xfrm>
            <a:off x="2824039" y="2140225"/>
            <a:ext cx="431767" cy="867765"/>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6033622-854E-5D08-A06F-58B70BA9C8AF}"/>
              </a:ext>
            </a:extLst>
          </p:cNvPr>
          <p:cNvSpPr txBox="1"/>
          <p:nvPr/>
        </p:nvSpPr>
        <p:spPr>
          <a:xfrm>
            <a:off x="7760473" y="4716955"/>
            <a:ext cx="803082" cy="553998"/>
          </a:xfrm>
          <a:prstGeom prst="rect">
            <a:avLst/>
          </a:prstGeom>
          <a:noFill/>
        </p:spPr>
        <p:txBody>
          <a:bodyPr wrap="square" rtlCol="0">
            <a:spAutoFit/>
          </a:bodyPr>
          <a:lstStyle/>
          <a:p>
            <a:r>
              <a:rPr lang="en-GB" sz="1000" b="1" dirty="0">
                <a:latin typeface="Abadi" panose="020B0604020104020204" pitchFamily="34" charset="0"/>
              </a:rPr>
              <a:t>.</a:t>
            </a:r>
          </a:p>
          <a:p>
            <a:r>
              <a:rPr lang="en-GB" sz="1000" b="1" dirty="0">
                <a:latin typeface="Abadi" panose="020B0604020104020204" pitchFamily="34" charset="0"/>
              </a:rPr>
              <a:t>.</a:t>
            </a:r>
          </a:p>
          <a:p>
            <a:r>
              <a:rPr lang="en-GB" sz="1000" b="1" dirty="0">
                <a:latin typeface="Abadi" panose="020B0604020104020204" pitchFamily="34" charset="0"/>
              </a:rPr>
              <a:t>.</a:t>
            </a:r>
          </a:p>
        </p:txBody>
      </p:sp>
    </p:spTree>
    <p:extLst>
      <p:ext uri="{BB962C8B-B14F-4D97-AF65-F5344CB8AC3E}">
        <p14:creationId xmlns:p14="http://schemas.microsoft.com/office/powerpoint/2010/main" val="1108902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1755</Words>
  <Application>Microsoft Office PowerPoint</Application>
  <PresentationFormat>Widescreen</PresentationFormat>
  <Paragraphs>149</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Abadi</vt:lpstr>
      <vt:lpstr>Arial</vt:lpstr>
      <vt:lpstr>Calibri</vt:lpstr>
      <vt:lpstr>Calibri Light</vt:lpstr>
      <vt:lpstr>Cambria Math</vt:lpstr>
      <vt:lpstr>Consolas</vt:lpstr>
      <vt:lpstr>Office Theme</vt:lpstr>
      <vt:lpstr>Boolean directed network which mimics regulatory feedback networks</vt:lpstr>
      <vt:lpstr>The Setup</vt:lpstr>
      <vt:lpstr>The Rules</vt:lpstr>
      <vt:lpstr>Example</vt:lpstr>
      <vt:lpstr>Investigating ratio of ON nodes</vt:lpstr>
      <vt:lpstr>Observations</vt:lpstr>
      <vt:lpstr>Data</vt:lpstr>
      <vt:lpstr>Perceptron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Boolean directed network which mimics regulatory feedback networks</dc:title>
  <dc:creator>Efe Görgüner</dc:creator>
  <cp:lastModifiedBy>Efe Görgüner</cp:lastModifiedBy>
  <cp:revision>15</cp:revision>
  <dcterms:created xsi:type="dcterms:W3CDTF">2022-08-28T17:06:49Z</dcterms:created>
  <dcterms:modified xsi:type="dcterms:W3CDTF">2022-09-04T17:49:28Z</dcterms:modified>
</cp:coreProperties>
</file>