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 id="264" r:id="rId6"/>
    <p:sldId id="259" r:id="rId7"/>
    <p:sldId id="260" r:id="rId8"/>
    <p:sldId id="261" r:id="rId9"/>
    <p:sldId id="266" r:id="rId10"/>
    <p:sldId id="263"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p:scale>
          <a:sx n="80" d="100"/>
          <a:sy n="80" d="100"/>
        </p:scale>
        <p:origin x="60"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0FC21-6C18-63CE-F1B7-54BEBE7062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5D94173-8F86-DF73-4D63-7D6791FD0E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45AA987-EDC6-6030-4812-889179C32E33}"/>
              </a:ext>
            </a:extLst>
          </p:cNvPr>
          <p:cNvSpPr>
            <a:spLocks noGrp="1"/>
          </p:cNvSpPr>
          <p:nvPr>
            <p:ph type="dt" sz="half" idx="10"/>
          </p:nvPr>
        </p:nvSpPr>
        <p:spPr/>
        <p:txBody>
          <a:bodyPr/>
          <a:lstStyle/>
          <a:p>
            <a:fld id="{0721E619-6A15-41C3-871D-B6D0B15B8F7E}" type="datetimeFigureOut">
              <a:rPr lang="en-GB" smtClean="0"/>
              <a:t>02/09/2022</a:t>
            </a:fld>
            <a:endParaRPr lang="en-GB"/>
          </a:p>
        </p:txBody>
      </p:sp>
      <p:sp>
        <p:nvSpPr>
          <p:cNvPr id="5" name="Footer Placeholder 4">
            <a:extLst>
              <a:ext uri="{FF2B5EF4-FFF2-40B4-BE49-F238E27FC236}">
                <a16:creationId xmlns:a16="http://schemas.microsoft.com/office/drawing/2014/main" id="{74F54D53-EEDC-6FA8-989D-18204454A1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7EF8D0-C624-7CF2-CE14-592087FF361A}"/>
              </a:ext>
            </a:extLst>
          </p:cNvPr>
          <p:cNvSpPr>
            <a:spLocks noGrp="1"/>
          </p:cNvSpPr>
          <p:nvPr>
            <p:ph type="sldNum" sz="quarter" idx="12"/>
          </p:nvPr>
        </p:nvSpPr>
        <p:spPr/>
        <p:txBody>
          <a:bodyPr/>
          <a:lstStyle/>
          <a:p>
            <a:fld id="{D5EEF477-E1AD-46BE-99E5-F20775B85E0F}" type="slidenum">
              <a:rPr lang="en-GB" smtClean="0"/>
              <a:t>‹#›</a:t>
            </a:fld>
            <a:endParaRPr lang="en-GB"/>
          </a:p>
        </p:txBody>
      </p:sp>
    </p:spTree>
    <p:extLst>
      <p:ext uri="{BB962C8B-B14F-4D97-AF65-F5344CB8AC3E}">
        <p14:creationId xmlns:p14="http://schemas.microsoft.com/office/powerpoint/2010/main" val="286308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2B81A-CBD9-5B88-C9B7-B9CE5E46B26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7A3E546-80E6-86DE-6490-3D7518AF56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FADD070-B440-793C-CDBD-A12429AED064}"/>
              </a:ext>
            </a:extLst>
          </p:cNvPr>
          <p:cNvSpPr>
            <a:spLocks noGrp="1"/>
          </p:cNvSpPr>
          <p:nvPr>
            <p:ph type="dt" sz="half" idx="10"/>
          </p:nvPr>
        </p:nvSpPr>
        <p:spPr/>
        <p:txBody>
          <a:bodyPr/>
          <a:lstStyle/>
          <a:p>
            <a:fld id="{0721E619-6A15-41C3-871D-B6D0B15B8F7E}" type="datetimeFigureOut">
              <a:rPr lang="en-GB" smtClean="0"/>
              <a:t>02/09/2022</a:t>
            </a:fld>
            <a:endParaRPr lang="en-GB"/>
          </a:p>
        </p:txBody>
      </p:sp>
      <p:sp>
        <p:nvSpPr>
          <p:cNvPr id="5" name="Footer Placeholder 4">
            <a:extLst>
              <a:ext uri="{FF2B5EF4-FFF2-40B4-BE49-F238E27FC236}">
                <a16:creationId xmlns:a16="http://schemas.microsoft.com/office/drawing/2014/main" id="{ADDE7673-19F5-20B9-58EB-8E2CBEBD7C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E0064E-3AC8-731A-D41E-E17902FD771D}"/>
              </a:ext>
            </a:extLst>
          </p:cNvPr>
          <p:cNvSpPr>
            <a:spLocks noGrp="1"/>
          </p:cNvSpPr>
          <p:nvPr>
            <p:ph type="sldNum" sz="quarter" idx="12"/>
          </p:nvPr>
        </p:nvSpPr>
        <p:spPr/>
        <p:txBody>
          <a:bodyPr/>
          <a:lstStyle/>
          <a:p>
            <a:fld id="{D5EEF477-E1AD-46BE-99E5-F20775B85E0F}" type="slidenum">
              <a:rPr lang="en-GB" smtClean="0"/>
              <a:t>‹#›</a:t>
            </a:fld>
            <a:endParaRPr lang="en-GB"/>
          </a:p>
        </p:txBody>
      </p:sp>
    </p:spTree>
    <p:extLst>
      <p:ext uri="{BB962C8B-B14F-4D97-AF65-F5344CB8AC3E}">
        <p14:creationId xmlns:p14="http://schemas.microsoft.com/office/powerpoint/2010/main" val="3354703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08FFF-BEBF-9018-3049-EDC4D24DF4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D06DC8A-4A63-AA3C-E808-10870B0122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07B402-E4F4-01B7-EB1B-B74766DDF0C9}"/>
              </a:ext>
            </a:extLst>
          </p:cNvPr>
          <p:cNvSpPr>
            <a:spLocks noGrp="1"/>
          </p:cNvSpPr>
          <p:nvPr>
            <p:ph type="dt" sz="half" idx="10"/>
          </p:nvPr>
        </p:nvSpPr>
        <p:spPr/>
        <p:txBody>
          <a:bodyPr/>
          <a:lstStyle/>
          <a:p>
            <a:fld id="{0721E619-6A15-41C3-871D-B6D0B15B8F7E}" type="datetimeFigureOut">
              <a:rPr lang="en-GB" smtClean="0"/>
              <a:t>02/09/2022</a:t>
            </a:fld>
            <a:endParaRPr lang="en-GB"/>
          </a:p>
        </p:txBody>
      </p:sp>
      <p:sp>
        <p:nvSpPr>
          <p:cNvPr id="5" name="Footer Placeholder 4">
            <a:extLst>
              <a:ext uri="{FF2B5EF4-FFF2-40B4-BE49-F238E27FC236}">
                <a16:creationId xmlns:a16="http://schemas.microsoft.com/office/drawing/2014/main" id="{A0C7036E-E9C9-6EF4-AB9F-840CAEB8A8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324DBB-3C74-4D25-3061-D9041EB01BF1}"/>
              </a:ext>
            </a:extLst>
          </p:cNvPr>
          <p:cNvSpPr>
            <a:spLocks noGrp="1"/>
          </p:cNvSpPr>
          <p:nvPr>
            <p:ph type="sldNum" sz="quarter" idx="12"/>
          </p:nvPr>
        </p:nvSpPr>
        <p:spPr/>
        <p:txBody>
          <a:bodyPr/>
          <a:lstStyle/>
          <a:p>
            <a:fld id="{D5EEF477-E1AD-46BE-99E5-F20775B85E0F}" type="slidenum">
              <a:rPr lang="en-GB" smtClean="0"/>
              <a:t>‹#›</a:t>
            </a:fld>
            <a:endParaRPr lang="en-GB"/>
          </a:p>
        </p:txBody>
      </p:sp>
    </p:spTree>
    <p:extLst>
      <p:ext uri="{BB962C8B-B14F-4D97-AF65-F5344CB8AC3E}">
        <p14:creationId xmlns:p14="http://schemas.microsoft.com/office/powerpoint/2010/main" val="23731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09643-A6EE-B064-8F14-9982121597A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3F80A92-BE9B-E0CF-9AF0-8B5827B724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1474C92-3B52-6074-F332-3FB5BDA630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2855DE7-B578-25CC-B524-67A0C84E1AE7}"/>
              </a:ext>
            </a:extLst>
          </p:cNvPr>
          <p:cNvSpPr>
            <a:spLocks noGrp="1"/>
          </p:cNvSpPr>
          <p:nvPr>
            <p:ph type="dt" sz="half" idx="10"/>
          </p:nvPr>
        </p:nvSpPr>
        <p:spPr/>
        <p:txBody>
          <a:bodyPr/>
          <a:lstStyle/>
          <a:p>
            <a:fld id="{0721E619-6A15-41C3-871D-B6D0B15B8F7E}" type="datetimeFigureOut">
              <a:rPr lang="en-GB" smtClean="0"/>
              <a:t>02/09/2022</a:t>
            </a:fld>
            <a:endParaRPr lang="en-GB"/>
          </a:p>
        </p:txBody>
      </p:sp>
      <p:sp>
        <p:nvSpPr>
          <p:cNvPr id="6" name="Footer Placeholder 5">
            <a:extLst>
              <a:ext uri="{FF2B5EF4-FFF2-40B4-BE49-F238E27FC236}">
                <a16:creationId xmlns:a16="http://schemas.microsoft.com/office/drawing/2014/main" id="{35C353EC-53E4-362D-DE0F-9B01014C8F0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404B19C-5878-D836-A6A6-E5C7319E0CB4}"/>
              </a:ext>
            </a:extLst>
          </p:cNvPr>
          <p:cNvSpPr>
            <a:spLocks noGrp="1"/>
          </p:cNvSpPr>
          <p:nvPr>
            <p:ph type="sldNum" sz="quarter" idx="12"/>
          </p:nvPr>
        </p:nvSpPr>
        <p:spPr/>
        <p:txBody>
          <a:bodyPr/>
          <a:lstStyle/>
          <a:p>
            <a:fld id="{D5EEF477-E1AD-46BE-99E5-F20775B85E0F}" type="slidenum">
              <a:rPr lang="en-GB" smtClean="0"/>
              <a:t>‹#›</a:t>
            </a:fld>
            <a:endParaRPr lang="en-GB"/>
          </a:p>
        </p:txBody>
      </p:sp>
    </p:spTree>
    <p:extLst>
      <p:ext uri="{BB962C8B-B14F-4D97-AF65-F5344CB8AC3E}">
        <p14:creationId xmlns:p14="http://schemas.microsoft.com/office/powerpoint/2010/main" val="2130933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1F956-AA03-F798-FAE8-2503A9336FD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D673D9C-BB03-863B-D0B3-9DAF2C7935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10C5AA-DE3A-CB2B-C958-4B6251FBD7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7BFB34-4CEB-A32D-E4FF-A767BE1781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39999-0B32-518F-91F5-7A35B84D3A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3A7704F-8770-D6A5-185E-E6667CF555FC}"/>
              </a:ext>
            </a:extLst>
          </p:cNvPr>
          <p:cNvSpPr>
            <a:spLocks noGrp="1"/>
          </p:cNvSpPr>
          <p:nvPr>
            <p:ph type="dt" sz="half" idx="10"/>
          </p:nvPr>
        </p:nvSpPr>
        <p:spPr/>
        <p:txBody>
          <a:bodyPr/>
          <a:lstStyle/>
          <a:p>
            <a:fld id="{0721E619-6A15-41C3-871D-B6D0B15B8F7E}" type="datetimeFigureOut">
              <a:rPr lang="en-GB" smtClean="0"/>
              <a:t>02/09/2022</a:t>
            </a:fld>
            <a:endParaRPr lang="en-GB"/>
          </a:p>
        </p:txBody>
      </p:sp>
      <p:sp>
        <p:nvSpPr>
          <p:cNvPr id="8" name="Footer Placeholder 7">
            <a:extLst>
              <a:ext uri="{FF2B5EF4-FFF2-40B4-BE49-F238E27FC236}">
                <a16:creationId xmlns:a16="http://schemas.microsoft.com/office/drawing/2014/main" id="{421B4B78-B618-45B5-97A4-4FCC08B7D72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7B49A4F-97E7-37D8-9B52-BA7083CD2298}"/>
              </a:ext>
            </a:extLst>
          </p:cNvPr>
          <p:cNvSpPr>
            <a:spLocks noGrp="1"/>
          </p:cNvSpPr>
          <p:nvPr>
            <p:ph type="sldNum" sz="quarter" idx="12"/>
          </p:nvPr>
        </p:nvSpPr>
        <p:spPr/>
        <p:txBody>
          <a:bodyPr/>
          <a:lstStyle/>
          <a:p>
            <a:fld id="{D5EEF477-E1AD-46BE-99E5-F20775B85E0F}" type="slidenum">
              <a:rPr lang="en-GB" smtClean="0"/>
              <a:t>‹#›</a:t>
            </a:fld>
            <a:endParaRPr lang="en-GB"/>
          </a:p>
        </p:txBody>
      </p:sp>
    </p:spTree>
    <p:extLst>
      <p:ext uri="{BB962C8B-B14F-4D97-AF65-F5344CB8AC3E}">
        <p14:creationId xmlns:p14="http://schemas.microsoft.com/office/powerpoint/2010/main" val="861585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07C1A-2BDC-50BF-6E01-64E00586377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2460F80-248E-90E6-20E7-8A25AC9681EA}"/>
              </a:ext>
            </a:extLst>
          </p:cNvPr>
          <p:cNvSpPr>
            <a:spLocks noGrp="1"/>
          </p:cNvSpPr>
          <p:nvPr>
            <p:ph type="dt" sz="half" idx="10"/>
          </p:nvPr>
        </p:nvSpPr>
        <p:spPr/>
        <p:txBody>
          <a:bodyPr/>
          <a:lstStyle/>
          <a:p>
            <a:fld id="{0721E619-6A15-41C3-871D-B6D0B15B8F7E}" type="datetimeFigureOut">
              <a:rPr lang="en-GB" smtClean="0"/>
              <a:t>02/09/2022</a:t>
            </a:fld>
            <a:endParaRPr lang="en-GB"/>
          </a:p>
        </p:txBody>
      </p:sp>
      <p:sp>
        <p:nvSpPr>
          <p:cNvPr id="4" name="Footer Placeholder 3">
            <a:extLst>
              <a:ext uri="{FF2B5EF4-FFF2-40B4-BE49-F238E27FC236}">
                <a16:creationId xmlns:a16="http://schemas.microsoft.com/office/drawing/2014/main" id="{A9099167-B390-06AD-6DE1-CE2C9979C0C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BA3098-4865-8A44-F833-E8EE9AE02F2E}"/>
              </a:ext>
            </a:extLst>
          </p:cNvPr>
          <p:cNvSpPr>
            <a:spLocks noGrp="1"/>
          </p:cNvSpPr>
          <p:nvPr>
            <p:ph type="sldNum" sz="quarter" idx="12"/>
          </p:nvPr>
        </p:nvSpPr>
        <p:spPr/>
        <p:txBody>
          <a:bodyPr/>
          <a:lstStyle/>
          <a:p>
            <a:fld id="{D5EEF477-E1AD-46BE-99E5-F20775B85E0F}" type="slidenum">
              <a:rPr lang="en-GB" smtClean="0"/>
              <a:t>‹#›</a:t>
            </a:fld>
            <a:endParaRPr lang="en-GB"/>
          </a:p>
        </p:txBody>
      </p:sp>
    </p:spTree>
    <p:extLst>
      <p:ext uri="{BB962C8B-B14F-4D97-AF65-F5344CB8AC3E}">
        <p14:creationId xmlns:p14="http://schemas.microsoft.com/office/powerpoint/2010/main" val="3183004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743010-1D42-FE10-92EC-374B1F3EE2DB}"/>
              </a:ext>
            </a:extLst>
          </p:cNvPr>
          <p:cNvSpPr>
            <a:spLocks noGrp="1"/>
          </p:cNvSpPr>
          <p:nvPr>
            <p:ph type="dt" sz="half" idx="10"/>
          </p:nvPr>
        </p:nvSpPr>
        <p:spPr/>
        <p:txBody>
          <a:bodyPr/>
          <a:lstStyle/>
          <a:p>
            <a:fld id="{0721E619-6A15-41C3-871D-B6D0B15B8F7E}" type="datetimeFigureOut">
              <a:rPr lang="en-GB" smtClean="0"/>
              <a:t>02/09/2022</a:t>
            </a:fld>
            <a:endParaRPr lang="en-GB"/>
          </a:p>
        </p:txBody>
      </p:sp>
      <p:sp>
        <p:nvSpPr>
          <p:cNvPr id="3" name="Footer Placeholder 2">
            <a:extLst>
              <a:ext uri="{FF2B5EF4-FFF2-40B4-BE49-F238E27FC236}">
                <a16:creationId xmlns:a16="http://schemas.microsoft.com/office/drawing/2014/main" id="{7E3049A9-7CEA-0537-2032-0CEAB4F8610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1766DA2-4D78-9C6E-6A2D-19DA69F2B3D9}"/>
              </a:ext>
            </a:extLst>
          </p:cNvPr>
          <p:cNvSpPr>
            <a:spLocks noGrp="1"/>
          </p:cNvSpPr>
          <p:nvPr>
            <p:ph type="sldNum" sz="quarter" idx="12"/>
          </p:nvPr>
        </p:nvSpPr>
        <p:spPr/>
        <p:txBody>
          <a:bodyPr/>
          <a:lstStyle/>
          <a:p>
            <a:fld id="{D5EEF477-E1AD-46BE-99E5-F20775B85E0F}" type="slidenum">
              <a:rPr lang="en-GB" smtClean="0"/>
              <a:t>‹#›</a:t>
            </a:fld>
            <a:endParaRPr lang="en-GB"/>
          </a:p>
        </p:txBody>
      </p:sp>
    </p:spTree>
    <p:extLst>
      <p:ext uri="{BB962C8B-B14F-4D97-AF65-F5344CB8AC3E}">
        <p14:creationId xmlns:p14="http://schemas.microsoft.com/office/powerpoint/2010/main" val="3012240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4D180-F444-7485-DDB8-BCF85A2D9B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483F3BC-6673-B0DE-453C-A30FFC3740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A0AB8E7-7FEF-B9C0-044B-FB60BE17F2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50E156-5799-42D5-4FF8-74FB9C011EB9}"/>
              </a:ext>
            </a:extLst>
          </p:cNvPr>
          <p:cNvSpPr>
            <a:spLocks noGrp="1"/>
          </p:cNvSpPr>
          <p:nvPr>
            <p:ph type="dt" sz="half" idx="10"/>
          </p:nvPr>
        </p:nvSpPr>
        <p:spPr/>
        <p:txBody>
          <a:bodyPr/>
          <a:lstStyle/>
          <a:p>
            <a:fld id="{0721E619-6A15-41C3-871D-B6D0B15B8F7E}" type="datetimeFigureOut">
              <a:rPr lang="en-GB" smtClean="0"/>
              <a:t>02/09/2022</a:t>
            </a:fld>
            <a:endParaRPr lang="en-GB"/>
          </a:p>
        </p:txBody>
      </p:sp>
      <p:sp>
        <p:nvSpPr>
          <p:cNvPr id="6" name="Footer Placeholder 5">
            <a:extLst>
              <a:ext uri="{FF2B5EF4-FFF2-40B4-BE49-F238E27FC236}">
                <a16:creationId xmlns:a16="http://schemas.microsoft.com/office/drawing/2014/main" id="{5C4D9012-44BB-C187-1E82-09A289DA85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D8878C5-7B81-F3E0-42AB-B291D9762D83}"/>
              </a:ext>
            </a:extLst>
          </p:cNvPr>
          <p:cNvSpPr>
            <a:spLocks noGrp="1"/>
          </p:cNvSpPr>
          <p:nvPr>
            <p:ph type="sldNum" sz="quarter" idx="12"/>
          </p:nvPr>
        </p:nvSpPr>
        <p:spPr/>
        <p:txBody>
          <a:bodyPr/>
          <a:lstStyle/>
          <a:p>
            <a:fld id="{D5EEF477-E1AD-46BE-99E5-F20775B85E0F}" type="slidenum">
              <a:rPr lang="en-GB" smtClean="0"/>
              <a:t>‹#›</a:t>
            </a:fld>
            <a:endParaRPr lang="en-GB"/>
          </a:p>
        </p:txBody>
      </p:sp>
    </p:spTree>
    <p:extLst>
      <p:ext uri="{BB962C8B-B14F-4D97-AF65-F5344CB8AC3E}">
        <p14:creationId xmlns:p14="http://schemas.microsoft.com/office/powerpoint/2010/main" val="3363893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6AE1C-8ED4-EC22-330F-B3CCEF5364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E45EB1F-8A5C-A65F-ECAB-E813A9BDE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4D18C6F-D559-2D3E-2018-29477838D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62F8BF-67AF-501A-B8C2-29452F865253}"/>
              </a:ext>
            </a:extLst>
          </p:cNvPr>
          <p:cNvSpPr>
            <a:spLocks noGrp="1"/>
          </p:cNvSpPr>
          <p:nvPr>
            <p:ph type="dt" sz="half" idx="10"/>
          </p:nvPr>
        </p:nvSpPr>
        <p:spPr/>
        <p:txBody>
          <a:bodyPr/>
          <a:lstStyle/>
          <a:p>
            <a:fld id="{0721E619-6A15-41C3-871D-B6D0B15B8F7E}" type="datetimeFigureOut">
              <a:rPr lang="en-GB" smtClean="0"/>
              <a:t>02/09/2022</a:t>
            </a:fld>
            <a:endParaRPr lang="en-GB"/>
          </a:p>
        </p:txBody>
      </p:sp>
      <p:sp>
        <p:nvSpPr>
          <p:cNvPr id="6" name="Footer Placeholder 5">
            <a:extLst>
              <a:ext uri="{FF2B5EF4-FFF2-40B4-BE49-F238E27FC236}">
                <a16:creationId xmlns:a16="http://schemas.microsoft.com/office/drawing/2014/main" id="{E6C12BFC-52AD-141E-E27C-8D6ABBDC2C9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28CA5D2-6E78-2158-DBEB-ABA13364AC60}"/>
              </a:ext>
            </a:extLst>
          </p:cNvPr>
          <p:cNvSpPr>
            <a:spLocks noGrp="1"/>
          </p:cNvSpPr>
          <p:nvPr>
            <p:ph type="sldNum" sz="quarter" idx="12"/>
          </p:nvPr>
        </p:nvSpPr>
        <p:spPr/>
        <p:txBody>
          <a:bodyPr/>
          <a:lstStyle/>
          <a:p>
            <a:fld id="{D5EEF477-E1AD-46BE-99E5-F20775B85E0F}" type="slidenum">
              <a:rPr lang="en-GB" smtClean="0"/>
              <a:t>‹#›</a:t>
            </a:fld>
            <a:endParaRPr lang="en-GB"/>
          </a:p>
        </p:txBody>
      </p:sp>
    </p:spTree>
    <p:extLst>
      <p:ext uri="{BB962C8B-B14F-4D97-AF65-F5344CB8AC3E}">
        <p14:creationId xmlns:p14="http://schemas.microsoft.com/office/powerpoint/2010/main" val="423670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F3098-322B-61A8-F7BC-38880263F07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67C526D-F3D8-2511-F594-321FB9B906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148628-D0D7-8051-FCAC-BE3D8DB72925}"/>
              </a:ext>
            </a:extLst>
          </p:cNvPr>
          <p:cNvSpPr>
            <a:spLocks noGrp="1"/>
          </p:cNvSpPr>
          <p:nvPr>
            <p:ph type="dt" sz="half" idx="10"/>
          </p:nvPr>
        </p:nvSpPr>
        <p:spPr/>
        <p:txBody>
          <a:bodyPr/>
          <a:lstStyle/>
          <a:p>
            <a:fld id="{0721E619-6A15-41C3-871D-B6D0B15B8F7E}" type="datetimeFigureOut">
              <a:rPr lang="en-GB" smtClean="0"/>
              <a:t>02/09/2022</a:t>
            </a:fld>
            <a:endParaRPr lang="en-GB"/>
          </a:p>
        </p:txBody>
      </p:sp>
      <p:sp>
        <p:nvSpPr>
          <p:cNvPr id="5" name="Footer Placeholder 4">
            <a:extLst>
              <a:ext uri="{FF2B5EF4-FFF2-40B4-BE49-F238E27FC236}">
                <a16:creationId xmlns:a16="http://schemas.microsoft.com/office/drawing/2014/main" id="{50A06471-280F-B70A-7DB5-B7D516BC33C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77BCCE-8756-E4B8-FFDA-4C13C7093FD0}"/>
              </a:ext>
            </a:extLst>
          </p:cNvPr>
          <p:cNvSpPr>
            <a:spLocks noGrp="1"/>
          </p:cNvSpPr>
          <p:nvPr>
            <p:ph type="sldNum" sz="quarter" idx="12"/>
          </p:nvPr>
        </p:nvSpPr>
        <p:spPr/>
        <p:txBody>
          <a:bodyPr/>
          <a:lstStyle/>
          <a:p>
            <a:fld id="{D5EEF477-E1AD-46BE-99E5-F20775B85E0F}" type="slidenum">
              <a:rPr lang="en-GB" smtClean="0"/>
              <a:t>‹#›</a:t>
            </a:fld>
            <a:endParaRPr lang="en-GB"/>
          </a:p>
        </p:txBody>
      </p:sp>
    </p:spTree>
    <p:extLst>
      <p:ext uri="{BB962C8B-B14F-4D97-AF65-F5344CB8AC3E}">
        <p14:creationId xmlns:p14="http://schemas.microsoft.com/office/powerpoint/2010/main" val="1831799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E90D85-BC3E-E952-0159-7828848CEE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8FC1C25-5C10-186E-D8AA-9BA662A5CB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75C552-D7A0-5066-F5F3-F2CDD3ED3123}"/>
              </a:ext>
            </a:extLst>
          </p:cNvPr>
          <p:cNvSpPr>
            <a:spLocks noGrp="1"/>
          </p:cNvSpPr>
          <p:nvPr>
            <p:ph type="dt" sz="half" idx="10"/>
          </p:nvPr>
        </p:nvSpPr>
        <p:spPr/>
        <p:txBody>
          <a:bodyPr/>
          <a:lstStyle/>
          <a:p>
            <a:fld id="{0721E619-6A15-41C3-871D-B6D0B15B8F7E}" type="datetimeFigureOut">
              <a:rPr lang="en-GB" smtClean="0"/>
              <a:t>02/09/2022</a:t>
            </a:fld>
            <a:endParaRPr lang="en-GB"/>
          </a:p>
        </p:txBody>
      </p:sp>
      <p:sp>
        <p:nvSpPr>
          <p:cNvPr id="5" name="Footer Placeholder 4">
            <a:extLst>
              <a:ext uri="{FF2B5EF4-FFF2-40B4-BE49-F238E27FC236}">
                <a16:creationId xmlns:a16="http://schemas.microsoft.com/office/drawing/2014/main" id="{7B8C872E-0986-CC25-3837-92146634B0C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C5BA7BA-F8D5-6425-BFB1-752E88DED6BB}"/>
              </a:ext>
            </a:extLst>
          </p:cNvPr>
          <p:cNvSpPr>
            <a:spLocks noGrp="1"/>
          </p:cNvSpPr>
          <p:nvPr>
            <p:ph type="sldNum" sz="quarter" idx="12"/>
          </p:nvPr>
        </p:nvSpPr>
        <p:spPr/>
        <p:txBody>
          <a:bodyPr/>
          <a:lstStyle/>
          <a:p>
            <a:fld id="{D5EEF477-E1AD-46BE-99E5-F20775B85E0F}" type="slidenum">
              <a:rPr lang="en-GB" smtClean="0"/>
              <a:t>‹#›</a:t>
            </a:fld>
            <a:endParaRPr lang="en-GB"/>
          </a:p>
        </p:txBody>
      </p:sp>
    </p:spTree>
    <p:extLst>
      <p:ext uri="{BB962C8B-B14F-4D97-AF65-F5344CB8AC3E}">
        <p14:creationId xmlns:p14="http://schemas.microsoft.com/office/powerpoint/2010/main" val="1125869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8C69BC-69C0-8796-86EF-188C28252E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ABE35AA-B21C-5913-6D18-3549865313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571C83-BBA9-B470-3D35-876B92DD13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21E619-6A15-41C3-871D-B6D0B15B8F7E}" type="datetimeFigureOut">
              <a:rPr lang="en-GB" smtClean="0"/>
              <a:t>02/09/2022</a:t>
            </a:fld>
            <a:endParaRPr lang="en-GB"/>
          </a:p>
        </p:txBody>
      </p:sp>
      <p:sp>
        <p:nvSpPr>
          <p:cNvPr id="5" name="Footer Placeholder 4">
            <a:extLst>
              <a:ext uri="{FF2B5EF4-FFF2-40B4-BE49-F238E27FC236}">
                <a16:creationId xmlns:a16="http://schemas.microsoft.com/office/drawing/2014/main" id="{2B277CF8-B663-4C9B-97E6-E4022D92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DF14A66-B753-9C44-B30E-A432E67F73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EEF477-E1AD-46BE-99E5-F20775B85E0F}" type="slidenum">
              <a:rPr lang="en-GB" smtClean="0"/>
              <a:t>‹#›</a:t>
            </a:fld>
            <a:endParaRPr lang="en-GB"/>
          </a:p>
        </p:txBody>
      </p:sp>
    </p:spTree>
    <p:extLst>
      <p:ext uri="{BB962C8B-B14F-4D97-AF65-F5344CB8AC3E}">
        <p14:creationId xmlns:p14="http://schemas.microsoft.com/office/powerpoint/2010/main" val="2686167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hyperlink" Target="https://networkrepository.com/inf-power.php" TargetMode="Externa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hyperlink" Target="https://networkrepository.com/bio-human-gene2.php" TargetMode="Externa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hyperlink" Target="http://networksciencebook.com/chapter/8#modeling-cascading" TargetMode="External"/><Relationship Id="rId7"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78A59-E941-0703-9233-18C5FEFBB17E}"/>
              </a:ext>
            </a:extLst>
          </p:cNvPr>
          <p:cNvSpPr>
            <a:spLocks noGrp="1"/>
          </p:cNvSpPr>
          <p:nvPr>
            <p:ph type="ctrTitle"/>
          </p:nvPr>
        </p:nvSpPr>
        <p:spPr/>
        <p:txBody>
          <a:bodyPr/>
          <a:lstStyle/>
          <a:p>
            <a:r>
              <a:rPr lang="en-GB" dirty="0"/>
              <a:t>Percolation</a:t>
            </a:r>
          </a:p>
        </p:txBody>
      </p:sp>
    </p:spTree>
    <p:extLst>
      <p:ext uri="{BB962C8B-B14F-4D97-AF65-F5344CB8AC3E}">
        <p14:creationId xmlns:p14="http://schemas.microsoft.com/office/powerpoint/2010/main" val="288715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CD118-22E4-4866-A34E-C274AB49FF55}"/>
              </a:ext>
            </a:extLst>
          </p:cNvPr>
          <p:cNvSpPr>
            <a:spLocks noGrp="1"/>
          </p:cNvSpPr>
          <p:nvPr>
            <p:ph type="title"/>
          </p:nvPr>
        </p:nvSpPr>
        <p:spPr/>
        <p:txBody>
          <a:bodyPr/>
          <a:lstStyle/>
          <a:p>
            <a:r>
              <a:rPr lang="en-GB" dirty="0"/>
              <a:t>Percolation on Random Networks</a:t>
            </a:r>
          </a:p>
        </p:txBody>
      </p:sp>
      <p:pic>
        <p:nvPicPr>
          <p:cNvPr id="5" name="Picture 4" descr="Chart, line chart&#10;&#10;Description automatically generated">
            <a:extLst>
              <a:ext uri="{FF2B5EF4-FFF2-40B4-BE49-F238E27FC236}">
                <a16:creationId xmlns:a16="http://schemas.microsoft.com/office/drawing/2014/main" id="{7AB65E62-F887-6885-77BA-96556F1248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0372" y="1623828"/>
            <a:ext cx="5184658" cy="3959360"/>
          </a:xfrm>
          <a:prstGeom prst="rect">
            <a:avLst/>
          </a:prstGeom>
        </p:spPr>
      </p:pic>
      <p:pic>
        <p:nvPicPr>
          <p:cNvPr id="7" name="Picture 6" descr="Chart, histogram&#10;&#10;Description automatically generated">
            <a:extLst>
              <a:ext uri="{FF2B5EF4-FFF2-40B4-BE49-F238E27FC236}">
                <a16:creationId xmlns:a16="http://schemas.microsoft.com/office/drawing/2014/main" id="{89F32225-3908-D1AF-0A26-73381B5B5A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234435"/>
            <a:ext cx="5852172" cy="4389129"/>
          </a:xfrm>
          <a:prstGeom prst="rect">
            <a:avLst/>
          </a:prstGeom>
        </p:spPr>
      </p:pic>
      <p:sp>
        <p:nvSpPr>
          <p:cNvPr id="8" name="TextBox 7">
            <a:extLst>
              <a:ext uri="{FF2B5EF4-FFF2-40B4-BE49-F238E27FC236}">
                <a16:creationId xmlns:a16="http://schemas.microsoft.com/office/drawing/2014/main" id="{89B11E21-D6F5-8A4F-FF65-1F6742FE643F}"/>
              </a:ext>
            </a:extLst>
          </p:cNvPr>
          <p:cNvSpPr txBox="1"/>
          <p:nvPr/>
        </p:nvSpPr>
        <p:spPr>
          <a:xfrm>
            <a:off x="7550028" y="5426248"/>
            <a:ext cx="4680668" cy="369332"/>
          </a:xfrm>
          <a:prstGeom prst="rect">
            <a:avLst/>
          </a:prstGeom>
          <a:noFill/>
        </p:spPr>
        <p:txBody>
          <a:bodyPr wrap="square" rtlCol="0">
            <a:spAutoFit/>
          </a:bodyPr>
          <a:lstStyle/>
          <a:p>
            <a:r>
              <a:rPr lang="en-GB" dirty="0"/>
              <a:t>Node percolation -  N = 100,000and c=4</a:t>
            </a:r>
          </a:p>
        </p:txBody>
      </p:sp>
      <p:sp>
        <p:nvSpPr>
          <p:cNvPr id="9" name="TextBox 8">
            <a:extLst>
              <a:ext uri="{FF2B5EF4-FFF2-40B4-BE49-F238E27FC236}">
                <a16:creationId xmlns:a16="http://schemas.microsoft.com/office/drawing/2014/main" id="{89EADD00-71CF-485D-6EBF-82820DA50A43}"/>
              </a:ext>
            </a:extLst>
          </p:cNvPr>
          <p:cNvSpPr txBox="1"/>
          <p:nvPr/>
        </p:nvSpPr>
        <p:spPr>
          <a:xfrm>
            <a:off x="2545504" y="5398522"/>
            <a:ext cx="3608806" cy="369332"/>
          </a:xfrm>
          <a:prstGeom prst="rect">
            <a:avLst/>
          </a:prstGeom>
          <a:noFill/>
        </p:spPr>
        <p:txBody>
          <a:bodyPr wrap="square" rtlCol="0">
            <a:spAutoFit/>
          </a:bodyPr>
          <a:lstStyle/>
          <a:p>
            <a:r>
              <a:rPr lang="en-GB" dirty="0"/>
              <a:t>Link percolation - c=4</a:t>
            </a:r>
          </a:p>
        </p:txBody>
      </p:sp>
      <p:sp>
        <p:nvSpPr>
          <p:cNvPr id="10" name="Oval 9">
            <a:extLst>
              <a:ext uri="{FF2B5EF4-FFF2-40B4-BE49-F238E27FC236}">
                <a16:creationId xmlns:a16="http://schemas.microsoft.com/office/drawing/2014/main" id="{3C342C3D-7831-2E8B-11EC-341E1E465AE5}"/>
              </a:ext>
            </a:extLst>
          </p:cNvPr>
          <p:cNvSpPr/>
          <p:nvPr/>
        </p:nvSpPr>
        <p:spPr>
          <a:xfrm>
            <a:off x="1637969" y="5744771"/>
            <a:ext cx="127463" cy="1274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3D5D7DE1-111A-3845-F3FB-CE043CEBA6F3}"/>
              </a:ext>
            </a:extLst>
          </p:cNvPr>
          <p:cNvSpPr/>
          <p:nvPr/>
        </p:nvSpPr>
        <p:spPr>
          <a:xfrm>
            <a:off x="1637968" y="6013124"/>
            <a:ext cx="127463" cy="127463"/>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1D5C2C46-B600-81F8-5E7B-920A3F7D9815}"/>
              </a:ext>
            </a:extLst>
          </p:cNvPr>
          <p:cNvSpPr/>
          <p:nvPr/>
        </p:nvSpPr>
        <p:spPr>
          <a:xfrm>
            <a:off x="1637968" y="6281477"/>
            <a:ext cx="127463" cy="127463"/>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8CB862F2-3A88-3E07-0F97-8038C06E8D70}"/>
              </a:ext>
            </a:extLst>
          </p:cNvPr>
          <p:cNvSpPr/>
          <p:nvPr/>
        </p:nvSpPr>
        <p:spPr>
          <a:xfrm>
            <a:off x="1637967" y="6549830"/>
            <a:ext cx="127463" cy="12746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D670C72F-B97D-7281-76A7-E324FD1926B6}"/>
              </a:ext>
            </a:extLst>
          </p:cNvPr>
          <p:cNvSpPr txBox="1"/>
          <p:nvPr/>
        </p:nvSpPr>
        <p:spPr>
          <a:xfrm>
            <a:off x="1835678" y="5623564"/>
            <a:ext cx="3474454" cy="1200329"/>
          </a:xfrm>
          <a:prstGeom prst="rect">
            <a:avLst/>
          </a:prstGeom>
          <a:noFill/>
        </p:spPr>
        <p:txBody>
          <a:bodyPr wrap="square" rtlCol="0">
            <a:spAutoFit/>
          </a:bodyPr>
          <a:lstStyle/>
          <a:p>
            <a:r>
              <a:rPr lang="en-GB" dirty="0"/>
              <a:t>N = 100 – repeated 1000 times</a:t>
            </a:r>
          </a:p>
          <a:p>
            <a:r>
              <a:rPr lang="en-GB" dirty="0"/>
              <a:t>N = 1000 – repeated 100 times</a:t>
            </a:r>
          </a:p>
          <a:p>
            <a:r>
              <a:rPr lang="en-GB" dirty="0"/>
              <a:t>N = 10000 – repeated 10 times</a:t>
            </a:r>
          </a:p>
          <a:p>
            <a:r>
              <a:rPr lang="en-GB" dirty="0"/>
              <a:t>N = 100000 – repeated 1 times</a:t>
            </a:r>
          </a:p>
        </p:txBody>
      </p:sp>
      <p:sp>
        <p:nvSpPr>
          <p:cNvPr id="15" name="TextBox 14">
            <a:extLst>
              <a:ext uri="{FF2B5EF4-FFF2-40B4-BE49-F238E27FC236}">
                <a16:creationId xmlns:a16="http://schemas.microsoft.com/office/drawing/2014/main" id="{8B6B4B50-DE69-2373-C8A6-AA058E40E059}"/>
              </a:ext>
            </a:extLst>
          </p:cNvPr>
          <p:cNvSpPr txBox="1"/>
          <p:nvPr/>
        </p:nvSpPr>
        <p:spPr>
          <a:xfrm>
            <a:off x="5310134" y="5808775"/>
            <a:ext cx="6777346" cy="1200329"/>
          </a:xfrm>
          <a:prstGeom prst="rect">
            <a:avLst/>
          </a:prstGeom>
          <a:noFill/>
        </p:spPr>
        <p:txBody>
          <a:bodyPr wrap="square" rtlCol="0">
            <a:spAutoFit/>
          </a:bodyPr>
          <a:lstStyle/>
          <a:p>
            <a:pPr marL="285750" indent="-285750">
              <a:buFont typeface="Arial" panose="020B0604020202020204" pitchFamily="34" charset="0"/>
              <a:buChar char="•"/>
            </a:pPr>
            <a:r>
              <a:rPr lang="en-GB" dirty="0"/>
              <a:t>For both, the critical threshold is p =0.25.</a:t>
            </a:r>
          </a:p>
          <a:p>
            <a:pPr marL="285750" indent="-285750">
              <a:buFont typeface="Arial" panose="020B0604020202020204" pitchFamily="34" charset="0"/>
              <a:buChar char="•"/>
            </a:pPr>
            <a:r>
              <a:rPr lang="en-GB" dirty="0"/>
              <a:t>The larger the network, the sharper this transition is.</a:t>
            </a:r>
          </a:p>
          <a:p>
            <a:pPr marL="285750" indent="-285750">
              <a:buFont typeface="Arial" panose="020B0604020202020204" pitchFamily="34" charset="0"/>
              <a:buChar char="•"/>
            </a:pPr>
            <a:r>
              <a:rPr lang="en-GB" dirty="0"/>
              <a:t>Node percolation leads to a less sharp transition for the same N.</a:t>
            </a:r>
          </a:p>
          <a:p>
            <a:r>
              <a:rPr lang="en-GB" dirty="0"/>
              <a:t> </a:t>
            </a:r>
          </a:p>
        </p:txBody>
      </p:sp>
    </p:spTree>
    <p:extLst>
      <p:ext uri="{BB962C8B-B14F-4D97-AF65-F5344CB8AC3E}">
        <p14:creationId xmlns:p14="http://schemas.microsoft.com/office/powerpoint/2010/main" val="4201524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D7341-FBEC-C4E6-9DD7-63EDB034676A}"/>
              </a:ext>
            </a:extLst>
          </p:cNvPr>
          <p:cNvSpPr>
            <a:spLocks noGrp="1"/>
          </p:cNvSpPr>
          <p:nvPr>
            <p:ph type="title"/>
          </p:nvPr>
        </p:nvSpPr>
        <p:spPr/>
        <p:txBody>
          <a:bodyPr/>
          <a:lstStyle/>
          <a:p>
            <a:r>
              <a:rPr lang="en-GB" dirty="0" err="1"/>
              <a:t>Barabási</a:t>
            </a:r>
            <a:r>
              <a:rPr lang="en-GB" dirty="0"/>
              <a:t>-Albert Networks</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A1D340E-891E-5DA7-76BD-9F52CFE88092}"/>
                  </a:ext>
                </a:extLst>
              </p:cNvPr>
              <p:cNvSpPr txBox="1"/>
              <p:nvPr/>
            </p:nvSpPr>
            <p:spPr>
              <a:xfrm>
                <a:off x="1650852" y="5288339"/>
                <a:ext cx="4680668" cy="369332"/>
              </a:xfrm>
              <a:prstGeom prst="rect">
                <a:avLst/>
              </a:prstGeom>
              <a:noFill/>
            </p:spPr>
            <p:txBody>
              <a:bodyPr wrap="square" rtlCol="0">
                <a:spAutoFit/>
              </a:bodyPr>
              <a:lstStyle/>
              <a:p>
                <a:r>
                  <a:rPr lang="en-GB" dirty="0"/>
                  <a:t>Link percolation -  N = 10,000and m=2 (So c</a:t>
                </a:r>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t>4)</a:t>
                </a:r>
              </a:p>
            </p:txBody>
          </p:sp>
        </mc:Choice>
        <mc:Fallback xmlns="">
          <p:sp>
            <p:nvSpPr>
              <p:cNvPr id="16" name="TextBox 15">
                <a:extLst>
                  <a:ext uri="{FF2B5EF4-FFF2-40B4-BE49-F238E27FC236}">
                    <a16:creationId xmlns:a16="http://schemas.microsoft.com/office/drawing/2014/main" id="{5A1D340E-891E-5DA7-76BD-9F52CFE88092}"/>
                  </a:ext>
                </a:extLst>
              </p:cNvPr>
              <p:cNvSpPr txBox="1">
                <a:spLocks noRot="1" noChangeAspect="1" noMove="1" noResize="1" noEditPoints="1" noAdjustHandles="1" noChangeArrowheads="1" noChangeShapeType="1" noTextEdit="1"/>
              </p:cNvSpPr>
              <p:nvPr/>
            </p:nvSpPr>
            <p:spPr>
              <a:xfrm>
                <a:off x="1650852" y="5288339"/>
                <a:ext cx="4680668" cy="369332"/>
              </a:xfrm>
              <a:prstGeom prst="rect">
                <a:avLst/>
              </a:prstGeom>
              <a:blipFill>
                <a:blip r:embed="rId5"/>
                <a:stretch>
                  <a:fillRect l="-1172" t="-10000" b="-26667"/>
                </a:stretch>
              </a:blipFill>
            </p:spPr>
            <p:txBody>
              <a:bodyPr/>
              <a:lstStyle/>
              <a:p>
                <a:r>
                  <a:rPr lang="en-GB">
                    <a:noFill/>
                  </a:rPr>
                  <a:t> </a:t>
                </a:r>
              </a:p>
            </p:txBody>
          </p:sp>
        </mc:Fallback>
      </mc:AlternateContent>
      <p:sp>
        <p:nvSpPr>
          <p:cNvPr id="17" name="TextBox 16">
            <a:extLst>
              <a:ext uri="{FF2B5EF4-FFF2-40B4-BE49-F238E27FC236}">
                <a16:creationId xmlns:a16="http://schemas.microsoft.com/office/drawing/2014/main" id="{F55F21B9-3EEE-7339-445B-23C9ED425AE9}"/>
              </a:ext>
            </a:extLst>
          </p:cNvPr>
          <p:cNvSpPr txBox="1"/>
          <p:nvPr/>
        </p:nvSpPr>
        <p:spPr>
          <a:xfrm>
            <a:off x="5379904" y="5657671"/>
            <a:ext cx="6297972" cy="1200329"/>
          </a:xfrm>
          <a:prstGeom prst="rect">
            <a:avLst/>
          </a:prstGeom>
          <a:noFill/>
        </p:spPr>
        <p:txBody>
          <a:bodyPr wrap="square" rtlCol="0">
            <a:spAutoFit/>
          </a:bodyPr>
          <a:lstStyle/>
          <a:p>
            <a:pPr marL="285750" indent="-285750">
              <a:buFont typeface="Arial" panose="020B0604020202020204" pitchFamily="34" charset="0"/>
              <a:buChar char="•"/>
            </a:pPr>
            <a:r>
              <a:rPr lang="en-GB" dirty="0"/>
              <a:t>The critical threshold for the BA network is lower than that of an ER network with the same average degree. This shows that BA networks are more robust since they have a few hubs and many nodes with few links.</a:t>
            </a:r>
          </a:p>
        </p:txBody>
      </p:sp>
      <p:pic>
        <p:nvPicPr>
          <p:cNvPr id="5" name="Picture 4">
            <a:extLst>
              <a:ext uri="{FF2B5EF4-FFF2-40B4-BE49-F238E27FC236}">
                <a16:creationId xmlns:a16="http://schemas.microsoft.com/office/drawing/2014/main" id="{E34BE8B9-9109-6AAF-B5A9-EF45AF3B232D}"/>
              </a:ext>
            </a:extLst>
          </p:cNvPr>
          <p:cNvPicPr>
            <a:picLocks noChangeAspect="1"/>
          </p:cNvPicPr>
          <p:nvPr/>
        </p:nvPicPr>
        <p:blipFill>
          <a:blip r:embed="rId6"/>
          <a:stretch>
            <a:fillRect/>
          </a:stretch>
        </p:blipFill>
        <p:spPr>
          <a:xfrm>
            <a:off x="1745029" y="1398155"/>
            <a:ext cx="4586491" cy="3610977"/>
          </a:xfrm>
          <a:prstGeom prst="rect">
            <a:avLst/>
          </a:prstGeom>
        </p:spPr>
      </p:pic>
      <p:pic>
        <p:nvPicPr>
          <p:cNvPr id="7" name="Picture 6" descr="Chart&#10;&#10;Description automatically generated">
            <a:extLst>
              <a:ext uri="{FF2B5EF4-FFF2-40B4-BE49-F238E27FC236}">
                <a16:creationId xmlns:a16="http://schemas.microsoft.com/office/drawing/2014/main" id="{AD417A4E-413D-1F77-B65A-B9F1C1E9531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1520" y="1313354"/>
            <a:ext cx="5040771" cy="3780578"/>
          </a:xfrm>
          <a:prstGeom prst="rect">
            <a:avLst/>
          </a:prstGeom>
        </p:spPr>
      </p:pic>
    </p:spTree>
    <p:extLst>
      <p:ext uri="{BB962C8B-B14F-4D97-AF65-F5344CB8AC3E}">
        <p14:creationId xmlns:p14="http://schemas.microsoft.com/office/powerpoint/2010/main" val="1866209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6BE45D-CCB8-A3C3-FC2B-EDF7AC529FC5}"/>
              </a:ext>
            </a:extLst>
          </p:cNvPr>
          <p:cNvPicPr>
            <a:picLocks noChangeAspect="1"/>
          </p:cNvPicPr>
          <p:nvPr/>
        </p:nvPicPr>
        <p:blipFill>
          <a:blip r:embed="rId2"/>
          <a:stretch>
            <a:fillRect/>
          </a:stretch>
        </p:blipFill>
        <p:spPr>
          <a:xfrm>
            <a:off x="537996" y="223258"/>
            <a:ext cx="3987971" cy="3205742"/>
          </a:xfrm>
          <a:prstGeom prst="rect">
            <a:avLst/>
          </a:prstGeom>
        </p:spPr>
      </p:pic>
      <p:pic>
        <p:nvPicPr>
          <p:cNvPr id="9" name="Picture 8">
            <a:extLst>
              <a:ext uri="{FF2B5EF4-FFF2-40B4-BE49-F238E27FC236}">
                <a16:creationId xmlns:a16="http://schemas.microsoft.com/office/drawing/2014/main" id="{E7F6D343-4B80-3B15-9588-9BC4394D6F31}"/>
              </a:ext>
            </a:extLst>
          </p:cNvPr>
          <p:cNvPicPr>
            <a:picLocks noChangeAspect="1"/>
          </p:cNvPicPr>
          <p:nvPr/>
        </p:nvPicPr>
        <p:blipFill>
          <a:blip r:embed="rId3"/>
          <a:stretch>
            <a:fillRect/>
          </a:stretch>
        </p:blipFill>
        <p:spPr>
          <a:xfrm>
            <a:off x="658941" y="3429000"/>
            <a:ext cx="3867026" cy="3108520"/>
          </a:xfrm>
          <a:prstGeom prst="rect">
            <a:avLst/>
          </a:prstGeom>
        </p:spPr>
      </p:pic>
      <p:pic>
        <p:nvPicPr>
          <p:cNvPr id="11" name="Picture 10">
            <a:extLst>
              <a:ext uri="{FF2B5EF4-FFF2-40B4-BE49-F238E27FC236}">
                <a16:creationId xmlns:a16="http://schemas.microsoft.com/office/drawing/2014/main" id="{8ECD99C5-1E57-597A-4B14-C8E41CA5D0C1}"/>
              </a:ext>
            </a:extLst>
          </p:cNvPr>
          <p:cNvPicPr>
            <a:picLocks noChangeAspect="1"/>
          </p:cNvPicPr>
          <p:nvPr/>
        </p:nvPicPr>
        <p:blipFill>
          <a:blip r:embed="rId4"/>
          <a:stretch>
            <a:fillRect/>
          </a:stretch>
        </p:blipFill>
        <p:spPr>
          <a:xfrm>
            <a:off x="4646912" y="3429000"/>
            <a:ext cx="3867026" cy="3108520"/>
          </a:xfrm>
          <a:prstGeom prst="rect">
            <a:avLst/>
          </a:prstGeom>
        </p:spPr>
      </p:pic>
      <p:pic>
        <p:nvPicPr>
          <p:cNvPr id="13" name="Picture 12">
            <a:extLst>
              <a:ext uri="{FF2B5EF4-FFF2-40B4-BE49-F238E27FC236}">
                <a16:creationId xmlns:a16="http://schemas.microsoft.com/office/drawing/2014/main" id="{7F2857FF-9ECE-C849-91AA-7EC151F8AEB8}"/>
              </a:ext>
            </a:extLst>
          </p:cNvPr>
          <p:cNvPicPr>
            <a:picLocks noChangeAspect="1"/>
          </p:cNvPicPr>
          <p:nvPr/>
        </p:nvPicPr>
        <p:blipFill>
          <a:blip r:embed="rId5"/>
          <a:stretch>
            <a:fillRect/>
          </a:stretch>
        </p:blipFill>
        <p:spPr>
          <a:xfrm>
            <a:off x="4646913" y="320481"/>
            <a:ext cx="3867025" cy="3108519"/>
          </a:xfrm>
          <a:prstGeom prst="rect">
            <a:avLst/>
          </a:prstGeom>
        </p:spPr>
      </p:pic>
    </p:spTree>
    <p:extLst>
      <p:ext uri="{BB962C8B-B14F-4D97-AF65-F5344CB8AC3E}">
        <p14:creationId xmlns:p14="http://schemas.microsoft.com/office/powerpoint/2010/main" val="1860141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4A5DFD1-1298-A758-D8D0-50B9A907DC76}"/>
              </a:ext>
            </a:extLst>
          </p:cNvPr>
          <p:cNvPicPr>
            <a:picLocks noChangeAspect="1"/>
          </p:cNvPicPr>
          <p:nvPr/>
        </p:nvPicPr>
        <p:blipFill>
          <a:blip r:embed="rId2"/>
          <a:stretch>
            <a:fillRect/>
          </a:stretch>
        </p:blipFill>
        <p:spPr>
          <a:xfrm>
            <a:off x="353019" y="1651677"/>
            <a:ext cx="3819723" cy="2975983"/>
          </a:xfrm>
          <a:prstGeom prst="rect">
            <a:avLst/>
          </a:prstGeom>
        </p:spPr>
      </p:pic>
      <p:pic>
        <p:nvPicPr>
          <p:cNvPr id="9" name="Picture 8">
            <a:extLst>
              <a:ext uri="{FF2B5EF4-FFF2-40B4-BE49-F238E27FC236}">
                <a16:creationId xmlns:a16="http://schemas.microsoft.com/office/drawing/2014/main" id="{32245F61-260E-0F5D-14FA-85BF15EB088B}"/>
              </a:ext>
            </a:extLst>
          </p:cNvPr>
          <p:cNvPicPr>
            <a:picLocks noChangeAspect="1"/>
          </p:cNvPicPr>
          <p:nvPr/>
        </p:nvPicPr>
        <p:blipFill>
          <a:blip r:embed="rId3"/>
          <a:stretch>
            <a:fillRect/>
          </a:stretch>
        </p:blipFill>
        <p:spPr>
          <a:xfrm>
            <a:off x="4220137" y="1651677"/>
            <a:ext cx="3799123" cy="3059471"/>
          </a:xfrm>
          <a:prstGeom prst="rect">
            <a:avLst/>
          </a:prstGeom>
        </p:spPr>
      </p:pic>
      <p:pic>
        <p:nvPicPr>
          <p:cNvPr id="11" name="Picture 10">
            <a:extLst>
              <a:ext uri="{FF2B5EF4-FFF2-40B4-BE49-F238E27FC236}">
                <a16:creationId xmlns:a16="http://schemas.microsoft.com/office/drawing/2014/main" id="{5EC43FBD-5A4F-8A9A-493F-6D373DDFE521}"/>
              </a:ext>
            </a:extLst>
          </p:cNvPr>
          <p:cNvPicPr>
            <a:picLocks noChangeAspect="1"/>
          </p:cNvPicPr>
          <p:nvPr/>
        </p:nvPicPr>
        <p:blipFill>
          <a:blip r:embed="rId4"/>
          <a:stretch>
            <a:fillRect/>
          </a:stretch>
        </p:blipFill>
        <p:spPr>
          <a:xfrm>
            <a:off x="8066655" y="1651677"/>
            <a:ext cx="3886537" cy="3059471"/>
          </a:xfrm>
          <a:prstGeom prst="rect">
            <a:avLst/>
          </a:prstGeom>
        </p:spPr>
      </p:pic>
    </p:spTree>
    <p:extLst>
      <p:ext uri="{BB962C8B-B14F-4D97-AF65-F5344CB8AC3E}">
        <p14:creationId xmlns:p14="http://schemas.microsoft.com/office/powerpoint/2010/main" val="3749233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CB295-B6A6-D5F5-4440-8226DB0AB8FB}"/>
              </a:ext>
            </a:extLst>
          </p:cNvPr>
          <p:cNvSpPr>
            <a:spLocks noGrp="1"/>
          </p:cNvSpPr>
          <p:nvPr>
            <p:ph type="title"/>
          </p:nvPr>
        </p:nvSpPr>
        <p:spPr/>
        <p:txBody>
          <a:bodyPr/>
          <a:lstStyle/>
          <a:p>
            <a:r>
              <a:rPr lang="en-GB" dirty="0"/>
              <a:t>Power Grid</a:t>
            </a:r>
          </a:p>
        </p:txBody>
      </p:sp>
      <p:pic>
        <p:nvPicPr>
          <p:cNvPr id="7" name="Picture 6">
            <a:extLst>
              <a:ext uri="{FF2B5EF4-FFF2-40B4-BE49-F238E27FC236}">
                <a16:creationId xmlns:a16="http://schemas.microsoft.com/office/drawing/2014/main" id="{4D3D08E6-25D8-28E1-57F8-7B88CB04EAB9}"/>
              </a:ext>
            </a:extLst>
          </p:cNvPr>
          <p:cNvPicPr>
            <a:picLocks noChangeAspect="1"/>
          </p:cNvPicPr>
          <p:nvPr/>
        </p:nvPicPr>
        <p:blipFill>
          <a:blip r:embed="rId2"/>
          <a:stretch>
            <a:fillRect/>
          </a:stretch>
        </p:blipFill>
        <p:spPr>
          <a:xfrm>
            <a:off x="6272846" y="1690688"/>
            <a:ext cx="5410200" cy="3933825"/>
          </a:xfrm>
          <a:prstGeom prst="rect">
            <a:avLst/>
          </a:prstGeom>
        </p:spPr>
      </p:pic>
      <p:sp>
        <p:nvSpPr>
          <p:cNvPr id="9" name="TextBox 8">
            <a:extLst>
              <a:ext uri="{FF2B5EF4-FFF2-40B4-BE49-F238E27FC236}">
                <a16:creationId xmlns:a16="http://schemas.microsoft.com/office/drawing/2014/main" id="{B1DCCD9F-1E60-EC39-432A-2CA4232FAAF9}"/>
              </a:ext>
            </a:extLst>
          </p:cNvPr>
          <p:cNvSpPr txBox="1"/>
          <p:nvPr/>
        </p:nvSpPr>
        <p:spPr>
          <a:xfrm>
            <a:off x="6786390" y="5624513"/>
            <a:ext cx="5105687" cy="369332"/>
          </a:xfrm>
          <a:prstGeom prst="rect">
            <a:avLst/>
          </a:prstGeom>
          <a:noFill/>
        </p:spPr>
        <p:txBody>
          <a:bodyPr wrap="square" rtlCol="0">
            <a:spAutoFit/>
          </a:bodyPr>
          <a:lstStyle/>
          <a:p>
            <a:r>
              <a:rPr lang="en-GB" dirty="0"/>
              <a:t>Degree distribution of the power grid network</a:t>
            </a:r>
          </a:p>
        </p:txBody>
      </p:sp>
      <p:sp>
        <p:nvSpPr>
          <p:cNvPr id="10" name="TextBox 9">
            <a:extLst>
              <a:ext uri="{FF2B5EF4-FFF2-40B4-BE49-F238E27FC236}">
                <a16:creationId xmlns:a16="http://schemas.microsoft.com/office/drawing/2014/main" id="{726966A6-4FD6-8FE9-6189-ECC075E3CEBC}"/>
              </a:ext>
            </a:extLst>
          </p:cNvPr>
          <p:cNvSpPr txBox="1"/>
          <p:nvPr/>
        </p:nvSpPr>
        <p:spPr>
          <a:xfrm>
            <a:off x="1471672" y="5624513"/>
            <a:ext cx="5105687" cy="369332"/>
          </a:xfrm>
          <a:prstGeom prst="rect">
            <a:avLst/>
          </a:prstGeom>
          <a:noFill/>
        </p:spPr>
        <p:txBody>
          <a:bodyPr wrap="square" rtlCol="0">
            <a:spAutoFit/>
          </a:bodyPr>
          <a:lstStyle/>
          <a:p>
            <a:r>
              <a:rPr lang="en-GB" dirty="0"/>
              <a:t>Link percolation – N = 4941 </a:t>
            </a:r>
          </a:p>
        </p:txBody>
      </p:sp>
      <p:sp>
        <p:nvSpPr>
          <p:cNvPr id="11" name="TextBox 10">
            <a:extLst>
              <a:ext uri="{FF2B5EF4-FFF2-40B4-BE49-F238E27FC236}">
                <a16:creationId xmlns:a16="http://schemas.microsoft.com/office/drawing/2014/main" id="{9931381A-0641-696B-C6E3-A03E8A6678E6}"/>
              </a:ext>
            </a:extLst>
          </p:cNvPr>
          <p:cNvSpPr txBox="1"/>
          <p:nvPr/>
        </p:nvSpPr>
        <p:spPr>
          <a:xfrm>
            <a:off x="6698255" y="365125"/>
            <a:ext cx="4825388" cy="369332"/>
          </a:xfrm>
          <a:prstGeom prst="rect">
            <a:avLst/>
          </a:prstGeom>
          <a:noFill/>
        </p:spPr>
        <p:txBody>
          <a:bodyPr wrap="square" rtlCol="0">
            <a:spAutoFit/>
          </a:bodyPr>
          <a:lstStyle/>
          <a:p>
            <a:r>
              <a:rPr lang="en-GB" dirty="0">
                <a:hlinkClick r:id="rId3"/>
              </a:rPr>
              <a:t>https://networkrepository.com/inf-power.php</a:t>
            </a:r>
            <a:r>
              <a:rPr lang="en-GB" dirty="0"/>
              <a:t> </a:t>
            </a:r>
          </a:p>
        </p:txBody>
      </p:sp>
      <p:pic>
        <p:nvPicPr>
          <p:cNvPr id="4" name="Picture 3">
            <a:extLst>
              <a:ext uri="{FF2B5EF4-FFF2-40B4-BE49-F238E27FC236}">
                <a16:creationId xmlns:a16="http://schemas.microsoft.com/office/drawing/2014/main" id="{E80838D8-0014-D74B-63F4-71D70203ABDB}"/>
              </a:ext>
            </a:extLst>
          </p:cNvPr>
          <p:cNvPicPr>
            <a:picLocks noChangeAspect="1"/>
          </p:cNvPicPr>
          <p:nvPr/>
        </p:nvPicPr>
        <p:blipFill>
          <a:blip r:embed="rId4"/>
          <a:stretch>
            <a:fillRect/>
          </a:stretch>
        </p:blipFill>
        <p:spPr>
          <a:xfrm>
            <a:off x="508954" y="1595437"/>
            <a:ext cx="5400675" cy="4124325"/>
          </a:xfrm>
          <a:prstGeom prst="rect">
            <a:avLst/>
          </a:prstGeom>
        </p:spPr>
      </p:pic>
    </p:spTree>
    <p:extLst>
      <p:ext uri="{BB962C8B-B14F-4D97-AF65-F5344CB8AC3E}">
        <p14:creationId xmlns:p14="http://schemas.microsoft.com/office/powerpoint/2010/main" val="949966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BDFE4-1EF6-75A7-B6A7-7945EF8FABF4}"/>
              </a:ext>
            </a:extLst>
          </p:cNvPr>
          <p:cNvSpPr>
            <a:spLocks noGrp="1"/>
          </p:cNvSpPr>
          <p:nvPr>
            <p:ph type="title"/>
          </p:nvPr>
        </p:nvSpPr>
        <p:spPr/>
        <p:txBody>
          <a:bodyPr/>
          <a:lstStyle/>
          <a:p>
            <a:r>
              <a:rPr lang="en-GB" dirty="0"/>
              <a:t>Gene Network</a:t>
            </a:r>
          </a:p>
        </p:txBody>
      </p:sp>
      <p:pic>
        <p:nvPicPr>
          <p:cNvPr id="7" name="Picture 6">
            <a:extLst>
              <a:ext uri="{FF2B5EF4-FFF2-40B4-BE49-F238E27FC236}">
                <a16:creationId xmlns:a16="http://schemas.microsoft.com/office/drawing/2014/main" id="{C7175258-4551-E179-DF9B-A1E6240F29F2}"/>
              </a:ext>
            </a:extLst>
          </p:cNvPr>
          <p:cNvPicPr>
            <a:picLocks noChangeAspect="1"/>
          </p:cNvPicPr>
          <p:nvPr/>
        </p:nvPicPr>
        <p:blipFill>
          <a:blip r:embed="rId2"/>
          <a:stretch>
            <a:fillRect/>
          </a:stretch>
        </p:blipFill>
        <p:spPr>
          <a:xfrm>
            <a:off x="6491402" y="1690688"/>
            <a:ext cx="5400675" cy="3933825"/>
          </a:xfrm>
          <a:prstGeom prst="rect">
            <a:avLst/>
          </a:prstGeom>
        </p:spPr>
      </p:pic>
      <p:sp>
        <p:nvSpPr>
          <p:cNvPr id="8" name="TextBox 7">
            <a:extLst>
              <a:ext uri="{FF2B5EF4-FFF2-40B4-BE49-F238E27FC236}">
                <a16:creationId xmlns:a16="http://schemas.microsoft.com/office/drawing/2014/main" id="{90DEE17B-44F7-06E8-F198-726675E786AD}"/>
              </a:ext>
            </a:extLst>
          </p:cNvPr>
          <p:cNvSpPr txBox="1"/>
          <p:nvPr/>
        </p:nvSpPr>
        <p:spPr>
          <a:xfrm>
            <a:off x="6786390" y="5624513"/>
            <a:ext cx="5105687" cy="369332"/>
          </a:xfrm>
          <a:prstGeom prst="rect">
            <a:avLst/>
          </a:prstGeom>
          <a:noFill/>
        </p:spPr>
        <p:txBody>
          <a:bodyPr wrap="square" rtlCol="0">
            <a:spAutoFit/>
          </a:bodyPr>
          <a:lstStyle/>
          <a:p>
            <a:r>
              <a:rPr lang="en-GB" dirty="0"/>
              <a:t>Degree distribution of the gene network</a:t>
            </a:r>
          </a:p>
        </p:txBody>
      </p:sp>
      <p:sp>
        <p:nvSpPr>
          <p:cNvPr id="9" name="TextBox 8">
            <a:extLst>
              <a:ext uri="{FF2B5EF4-FFF2-40B4-BE49-F238E27FC236}">
                <a16:creationId xmlns:a16="http://schemas.microsoft.com/office/drawing/2014/main" id="{BEBE62A5-7A5E-3615-FF5A-AE1938265EFD}"/>
              </a:ext>
            </a:extLst>
          </p:cNvPr>
          <p:cNvSpPr txBox="1"/>
          <p:nvPr/>
        </p:nvSpPr>
        <p:spPr>
          <a:xfrm>
            <a:off x="1471672" y="5624513"/>
            <a:ext cx="5105687" cy="369332"/>
          </a:xfrm>
          <a:prstGeom prst="rect">
            <a:avLst/>
          </a:prstGeom>
          <a:noFill/>
        </p:spPr>
        <p:txBody>
          <a:bodyPr wrap="square" rtlCol="0">
            <a:spAutoFit/>
          </a:bodyPr>
          <a:lstStyle/>
          <a:p>
            <a:r>
              <a:rPr lang="en-GB" dirty="0"/>
              <a:t>Link percolation – N = 14340 </a:t>
            </a:r>
          </a:p>
        </p:txBody>
      </p:sp>
      <p:sp>
        <p:nvSpPr>
          <p:cNvPr id="10" name="TextBox 9">
            <a:extLst>
              <a:ext uri="{FF2B5EF4-FFF2-40B4-BE49-F238E27FC236}">
                <a16:creationId xmlns:a16="http://schemas.microsoft.com/office/drawing/2014/main" id="{C5398683-006C-3AD0-687B-481E41C1D2C1}"/>
              </a:ext>
            </a:extLst>
          </p:cNvPr>
          <p:cNvSpPr txBox="1"/>
          <p:nvPr/>
        </p:nvSpPr>
        <p:spPr>
          <a:xfrm>
            <a:off x="6491402" y="365125"/>
            <a:ext cx="4382246" cy="646331"/>
          </a:xfrm>
          <a:prstGeom prst="rect">
            <a:avLst/>
          </a:prstGeom>
          <a:noFill/>
        </p:spPr>
        <p:txBody>
          <a:bodyPr wrap="square" rtlCol="0">
            <a:spAutoFit/>
          </a:bodyPr>
          <a:lstStyle/>
          <a:p>
            <a:r>
              <a:rPr lang="en-GB" dirty="0">
                <a:hlinkClick r:id="rId3"/>
              </a:rPr>
              <a:t>https://networkrepository.com/bio-human-gene2.php</a:t>
            </a:r>
            <a:r>
              <a:rPr lang="en-GB" dirty="0"/>
              <a:t> </a:t>
            </a:r>
          </a:p>
        </p:txBody>
      </p:sp>
      <p:pic>
        <p:nvPicPr>
          <p:cNvPr id="4" name="Picture 3">
            <a:extLst>
              <a:ext uri="{FF2B5EF4-FFF2-40B4-BE49-F238E27FC236}">
                <a16:creationId xmlns:a16="http://schemas.microsoft.com/office/drawing/2014/main" id="{33B4A417-10F9-C0DF-8D93-A53A8405A458}"/>
              </a:ext>
            </a:extLst>
          </p:cNvPr>
          <p:cNvPicPr>
            <a:picLocks noChangeAspect="1"/>
          </p:cNvPicPr>
          <p:nvPr/>
        </p:nvPicPr>
        <p:blipFill>
          <a:blip r:embed="rId4"/>
          <a:stretch>
            <a:fillRect/>
          </a:stretch>
        </p:blipFill>
        <p:spPr>
          <a:xfrm>
            <a:off x="556584" y="1865949"/>
            <a:ext cx="5144015" cy="3866942"/>
          </a:xfrm>
          <a:prstGeom prst="rect">
            <a:avLst/>
          </a:prstGeom>
        </p:spPr>
      </p:pic>
    </p:spTree>
    <p:extLst>
      <p:ext uri="{BB962C8B-B14F-4D97-AF65-F5344CB8AC3E}">
        <p14:creationId xmlns:p14="http://schemas.microsoft.com/office/powerpoint/2010/main" val="3014182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20A26-444B-A8CB-8698-E9F7948A26DE}"/>
              </a:ext>
            </a:extLst>
          </p:cNvPr>
          <p:cNvSpPr>
            <a:spLocks noGrp="1"/>
          </p:cNvSpPr>
          <p:nvPr>
            <p:ph type="title"/>
          </p:nvPr>
        </p:nvSpPr>
        <p:spPr/>
        <p:txBody>
          <a:bodyPr/>
          <a:lstStyle/>
          <a:p>
            <a:r>
              <a:rPr lang="en-GB" dirty="0"/>
              <a:t>Failure propagation model</a:t>
            </a:r>
          </a:p>
        </p:txBody>
      </p:sp>
      <p:pic>
        <p:nvPicPr>
          <p:cNvPr id="5" name="Picture 4">
            <a:extLst>
              <a:ext uri="{FF2B5EF4-FFF2-40B4-BE49-F238E27FC236}">
                <a16:creationId xmlns:a16="http://schemas.microsoft.com/office/drawing/2014/main" id="{DA4CA9F2-92FB-F08A-8046-E492B9FB101A}"/>
              </a:ext>
            </a:extLst>
          </p:cNvPr>
          <p:cNvPicPr>
            <a:picLocks noChangeAspect="1"/>
          </p:cNvPicPr>
          <p:nvPr/>
        </p:nvPicPr>
        <p:blipFill>
          <a:blip r:embed="rId2"/>
          <a:stretch>
            <a:fillRect/>
          </a:stretch>
        </p:blipFill>
        <p:spPr>
          <a:xfrm>
            <a:off x="366311" y="1462087"/>
            <a:ext cx="5334000" cy="3933825"/>
          </a:xfrm>
          <a:prstGeom prst="rect">
            <a:avLst/>
          </a:prstGeom>
        </p:spPr>
      </p:pic>
      <p:sp>
        <p:nvSpPr>
          <p:cNvPr id="6" name="TextBox 5">
            <a:extLst>
              <a:ext uri="{FF2B5EF4-FFF2-40B4-BE49-F238E27FC236}">
                <a16:creationId xmlns:a16="http://schemas.microsoft.com/office/drawing/2014/main" id="{08B525AC-5566-8D70-C29C-84825E8C99A6}"/>
              </a:ext>
            </a:extLst>
          </p:cNvPr>
          <p:cNvSpPr txBox="1"/>
          <p:nvPr/>
        </p:nvSpPr>
        <p:spPr>
          <a:xfrm>
            <a:off x="366310" y="5395912"/>
            <a:ext cx="5582797" cy="923330"/>
          </a:xfrm>
          <a:prstGeom prst="rect">
            <a:avLst/>
          </a:prstGeom>
          <a:noFill/>
        </p:spPr>
        <p:txBody>
          <a:bodyPr wrap="square" rtlCol="0">
            <a:spAutoFit/>
          </a:bodyPr>
          <a:lstStyle/>
          <a:p>
            <a:r>
              <a:rPr lang="en-GB" dirty="0"/>
              <a:t>Histogram of the frequency of failure against the size of the failure for an </a:t>
            </a:r>
            <a:r>
              <a:rPr lang="en-GB" dirty="0" err="1"/>
              <a:t>Erdos</a:t>
            </a:r>
            <a:r>
              <a:rPr lang="en-GB" dirty="0"/>
              <a:t> </a:t>
            </a:r>
            <a:r>
              <a:rPr lang="en-GB" dirty="0" err="1"/>
              <a:t>Renyi</a:t>
            </a:r>
            <a:r>
              <a:rPr lang="en-GB" dirty="0"/>
              <a:t> graph with N = 5000, c = 2, threshold = 0.4.</a:t>
            </a:r>
          </a:p>
        </p:txBody>
      </p:sp>
      <p:sp>
        <p:nvSpPr>
          <p:cNvPr id="10" name="TextBox 9">
            <a:extLst>
              <a:ext uri="{FF2B5EF4-FFF2-40B4-BE49-F238E27FC236}">
                <a16:creationId xmlns:a16="http://schemas.microsoft.com/office/drawing/2014/main" id="{993C6761-2112-42A0-9C1B-FC16EB985E15}"/>
              </a:ext>
            </a:extLst>
          </p:cNvPr>
          <p:cNvSpPr txBox="1"/>
          <p:nvPr/>
        </p:nvSpPr>
        <p:spPr>
          <a:xfrm>
            <a:off x="6009149" y="5996076"/>
            <a:ext cx="6097836" cy="646331"/>
          </a:xfrm>
          <a:prstGeom prst="rect">
            <a:avLst/>
          </a:prstGeom>
          <a:noFill/>
        </p:spPr>
        <p:txBody>
          <a:bodyPr wrap="square">
            <a:spAutoFit/>
          </a:bodyPr>
          <a:lstStyle/>
          <a:p>
            <a:r>
              <a:rPr lang="en-GB" dirty="0"/>
              <a:t>Histogram of the frequency of failure against the size of the failure for an BA graph with N = 5000, m = 1, threshold = 0.4.</a:t>
            </a:r>
          </a:p>
        </p:txBody>
      </p:sp>
      <p:sp>
        <p:nvSpPr>
          <p:cNvPr id="12" name="TextBox 11">
            <a:extLst>
              <a:ext uri="{FF2B5EF4-FFF2-40B4-BE49-F238E27FC236}">
                <a16:creationId xmlns:a16="http://schemas.microsoft.com/office/drawing/2014/main" id="{D26BC3D1-4D63-361B-5ACB-52AB4AD041C6}"/>
              </a:ext>
            </a:extLst>
          </p:cNvPr>
          <p:cNvSpPr txBox="1"/>
          <p:nvPr/>
        </p:nvSpPr>
        <p:spPr>
          <a:xfrm>
            <a:off x="7733841" y="402686"/>
            <a:ext cx="4252511" cy="646331"/>
          </a:xfrm>
          <a:prstGeom prst="rect">
            <a:avLst/>
          </a:prstGeom>
          <a:noFill/>
        </p:spPr>
        <p:txBody>
          <a:bodyPr wrap="square">
            <a:spAutoFit/>
          </a:bodyPr>
          <a:lstStyle/>
          <a:p>
            <a:r>
              <a:rPr lang="en-GB" dirty="0">
                <a:hlinkClick r:id="rId3"/>
              </a:rPr>
              <a:t>http://networksciencebook.com/chapter/8#modeling-cascading</a:t>
            </a:r>
            <a:r>
              <a:rPr lang="en-GB" dirty="0"/>
              <a:t> </a:t>
            </a:r>
          </a:p>
        </p:txBody>
      </p:sp>
      <p:pic>
        <p:nvPicPr>
          <p:cNvPr id="16" name="Picture 15">
            <a:extLst>
              <a:ext uri="{FF2B5EF4-FFF2-40B4-BE49-F238E27FC236}">
                <a16:creationId xmlns:a16="http://schemas.microsoft.com/office/drawing/2014/main" id="{153C4B6E-3CE1-9A5B-C566-849014E2B7B8}"/>
              </a:ext>
            </a:extLst>
          </p:cNvPr>
          <p:cNvPicPr>
            <a:picLocks noChangeAspect="1"/>
          </p:cNvPicPr>
          <p:nvPr/>
        </p:nvPicPr>
        <p:blipFill>
          <a:blip r:embed="rId4"/>
          <a:stretch>
            <a:fillRect/>
          </a:stretch>
        </p:blipFill>
        <p:spPr>
          <a:xfrm>
            <a:off x="5652635" y="1319763"/>
            <a:ext cx="3568861" cy="2632035"/>
          </a:xfrm>
          <a:prstGeom prst="rect">
            <a:avLst/>
          </a:prstGeom>
        </p:spPr>
      </p:pic>
      <p:pic>
        <p:nvPicPr>
          <p:cNvPr id="4" name="Picture 3">
            <a:extLst>
              <a:ext uri="{FF2B5EF4-FFF2-40B4-BE49-F238E27FC236}">
                <a16:creationId xmlns:a16="http://schemas.microsoft.com/office/drawing/2014/main" id="{7236045A-9D22-348F-1987-C239230C95C2}"/>
              </a:ext>
            </a:extLst>
          </p:cNvPr>
          <p:cNvPicPr>
            <a:picLocks noChangeAspect="1"/>
          </p:cNvPicPr>
          <p:nvPr/>
        </p:nvPicPr>
        <p:blipFill>
          <a:blip r:embed="rId5"/>
          <a:stretch>
            <a:fillRect/>
          </a:stretch>
        </p:blipFill>
        <p:spPr>
          <a:xfrm>
            <a:off x="9269172" y="1260859"/>
            <a:ext cx="2908352" cy="2168140"/>
          </a:xfrm>
          <a:prstGeom prst="rect">
            <a:avLst/>
          </a:prstGeom>
        </p:spPr>
      </p:pic>
      <p:pic>
        <p:nvPicPr>
          <p:cNvPr id="8" name="Picture 7">
            <a:extLst>
              <a:ext uri="{FF2B5EF4-FFF2-40B4-BE49-F238E27FC236}">
                <a16:creationId xmlns:a16="http://schemas.microsoft.com/office/drawing/2014/main" id="{554F230D-D529-BDF3-E752-399166CBE985}"/>
              </a:ext>
            </a:extLst>
          </p:cNvPr>
          <p:cNvPicPr>
            <a:picLocks noChangeAspect="1"/>
          </p:cNvPicPr>
          <p:nvPr/>
        </p:nvPicPr>
        <p:blipFill>
          <a:blip r:embed="rId6"/>
          <a:stretch>
            <a:fillRect/>
          </a:stretch>
        </p:blipFill>
        <p:spPr>
          <a:xfrm>
            <a:off x="9406676" y="3560775"/>
            <a:ext cx="2770848" cy="2065632"/>
          </a:xfrm>
          <a:prstGeom prst="rect">
            <a:avLst/>
          </a:prstGeom>
        </p:spPr>
      </p:pic>
      <p:pic>
        <p:nvPicPr>
          <p:cNvPr id="7" name="Picture 6">
            <a:extLst>
              <a:ext uri="{FF2B5EF4-FFF2-40B4-BE49-F238E27FC236}">
                <a16:creationId xmlns:a16="http://schemas.microsoft.com/office/drawing/2014/main" id="{212DBD73-F92D-FE6D-4246-4F5DE325F8D8}"/>
              </a:ext>
            </a:extLst>
          </p:cNvPr>
          <p:cNvPicPr>
            <a:picLocks noChangeAspect="1"/>
          </p:cNvPicPr>
          <p:nvPr/>
        </p:nvPicPr>
        <p:blipFill>
          <a:blip r:embed="rId7"/>
          <a:stretch>
            <a:fillRect/>
          </a:stretch>
        </p:blipFill>
        <p:spPr>
          <a:xfrm>
            <a:off x="6096000" y="4019595"/>
            <a:ext cx="2042657" cy="1518642"/>
          </a:xfrm>
          <a:prstGeom prst="rect">
            <a:avLst/>
          </a:prstGeom>
        </p:spPr>
      </p:pic>
    </p:spTree>
    <p:extLst>
      <p:ext uri="{BB962C8B-B14F-4D97-AF65-F5344CB8AC3E}">
        <p14:creationId xmlns:p14="http://schemas.microsoft.com/office/powerpoint/2010/main" val="1586506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481C7C-C164-619A-F971-F600B74A16AB}"/>
              </a:ext>
            </a:extLst>
          </p:cNvPr>
          <p:cNvPicPr>
            <a:picLocks noChangeAspect="1"/>
          </p:cNvPicPr>
          <p:nvPr/>
        </p:nvPicPr>
        <p:blipFill>
          <a:blip r:embed="rId2"/>
          <a:stretch>
            <a:fillRect/>
          </a:stretch>
        </p:blipFill>
        <p:spPr>
          <a:xfrm>
            <a:off x="283970" y="180685"/>
            <a:ext cx="4528372" cy="3317889"/>
          </a:xfrm>
          <a:prstGeom prst="rect">
            <a:avLst/>
          </a:prstGeom>
        </p:spPr>
      </p:pic>
      <p:sp>
        <p:nvSpPr>
          <p:cNvPr id="6" name="TextBox 5">
            <a:extLst>
              <a:ext uri="{FF2B5EF4-FFF2-40B4-BE49-F238E27FC236}">
                <a16:creationId xmlns:a16="http://schemas.microsoft.com/office/drawing/2014/main" id="{809A311C-6EEC-56F4-2D5C-5FE81E2BBE44}"/>
              </a:ext>
            </a:extLst>
          </p:cNvPr>
          <p:cNvSpPr txBox="1"/>
          <p:nvPr/>
        </p:nvSpPr>
        <p:spPr>
          <a:xfrm>
            <a:off x="1009816" y="3673503"/>
            <a:ext cx="3474720" cy="369332"/>
          </a:xfrm>
          <a:prstGeom prst="rect">
            <a:avLst/>
          </a:prstGeom>
          <a:noFill/>
        </p:spPr>
        <p:txBody>
          <a:bodyPr wrap="square" rtlCol="0">
            <a:spAutoFit/>
          </a:bodyPr>
          <a:lstStyle/>
          <a:p>
            <a:r>
              <a:rPr lang="en-GB" dirty="0"/>
              <a:t>G = -2.3, N =10,000 m = 2</a:t>
            </a:r>
          </a:p>
        </p:txBody>
      </p:sp>
      <p:pic>
        <p:nvPicPr>
          <p:cNvPr id="8" name="Picture 7">
            <a:extLst>
              <a:ext uri="{FF2B5EF4-FFF2-40B4-BE49-F238E27FC236}">
                <a16:creationId xmlns:a16="http://schemas.microsoft.com/office/drawing/2014/main" id="{072DBD03-8BEE-5A41-A68A-AE6121206BE3}"/>
              </a:ext>
            </a:extLst>
          </p:cNvPr>
          <p:cNvPicPr>
            <a:picLocks noChangeAspect="1"/>
          </p:cNvPicPr>
          <p:nvPr/>
        </p:nvPicPr>
        <p:blipFill>
          <a:blip r:embed="rId3"/>
          <a:stretch>
            <a:fillRect/>
          </a:stretch>
        </p:blipFill>
        <p:spPr>
          <a:xfrm>
            <a:off x="5701459" y="349856"/>
            <a:ext cx="4934582" cy="2997643"/>
          </a:xfrm>
          <a:prstGeom prst="rect">
            <a:avLst/>
          </a:prstGeom>
        </p:spPr>
      </p:pic>
    </p:spTree>
    <p:extLst>
      <p:ext uri="{BB962C8B-B14F-4D97-AF65-F5344CB8AC3E}">
        <p14:creationId xmlns:p14="http://schemas.microsoft.com/office/powerpoint/2010/main" val="1361918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30D80A12-9021-83C8-8FAA-209F7A655C2E}"/>
              </a:ext>
            </a:extLst>
          </p:cNvPr>
          <p:cNvSpPr/>
          <p:nvPr/>
        </p:nvSpPr>
        <p:spPr>
          <a:xfrm>
            <a:off x="1492865" y="1502262"/>
            <a:ext cx="524786" cy="52478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40FDD7D3-5CBA-33F2-30FB-4A00CEAC032E}"/>
              </a:ext>
            </a:extLst>
          </p:cNvPr>
          <p:cNvSpPr/>
          <p:nvPr/>
        </p:nvSpPr>
        <p:spPr>
          <a:xfrm>
            <a:off x="2540450" y="1545994"/>
            <a:ext cx="524786" cy="524786"/>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3DC7E464-3368-959C-D3E3-43488EA92869}"/>
              </a:ext>
            </a:extLst>
          </p:cNvPr>
          <p:cNvSpPr/>
          <p:nvPr/>
        </p:nvSpPr>
        <p:spPr>
          <a:xfrm>
            <a:off x="1626050" y="2742665"/>
            <a:ext cx="524786" cy="524786"/>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Straight Connector 11">
            <a:extLst>
              <a:ext uri="{FF2B5EF4-FFF2-40B4-BE49-F238E27FC236}">
                <a16:creationId xmlns:a16="http://schemas.microsoft.com/office/drawing/2014/main" id="{BCD18A80-044D-CE9F-5242-9E395655BC48}"/>
              </a:ext>
            </a:extLst>
          </p:cNvPr>
          <p:cNvCxnSpPr>
            <a:stCxn id="4" idx="6"/>
            <a:endCxn id="8" idx="2"/>
          </p:cNvCxnSpPr>
          <p:nvPr/>
        </p:nvCxnSpPr>
        <p:spPr>
          <a:xfrm>
            <a:off x="2017651" y="1764655"/>
            <a:ext cx="522799" cy="437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EFE33FB-5B8F-2FB3-030D-CB37B9DCE63B}"/>
              </a:ext>
            </a:extLst>
          </p:cNvPr>
          <p:cNvCxnSpPr>
            <a:stCxn id="10" idx="0"/>
            <a:endCxn id="4" idx="4"/>
          </p:cNvCxnSpPr>
          <p:nvPr/>
        </p:nvCxnSpPr>
        <p:spPr>
          <a:xfrm flipH="1" flipV="1">
            <a:off x="1755258" y="2027048"/>
            <a:ext cx="133185" cy="715617"/>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745D15E-E2BE-05B8-B33D-F411B3075DAA}"/>
              </a:ext>
            </a:extLst>
          </p:cNvPr>
          <p:cNvSpPr txBox="1"/>
          <p:nvPr/>
        </p:nvSpPr>
        <p:spPr>
          <a:xfrm>
            <a:off x="2126982" y="2786397"/>
            <a:ext cx="826936" cy="369332"/>
          </a:xfrm>
          <a:prstGeom prst="rect">
            <a:avLst/>
          </a:prstGeom>
          <a:noFill/>
        </p:spPr>
        <p:txBody>
          <a:bodyPr wrap="square" rtlCol="0">
            <a:spAutoFit/>
          </a:bodyPr>
          <a:lstStyle/>
          <a:p>
            <a:r>
              <a:rPr lang="en-GB" dirty="0">
                <a:latin typeface="Abadi" panose="020B0604020104020204" pitchFamily="34" charset="0"/>
              </a:rPr>
              <a:t>f=1/2</a:t>
            </a:r>
          </a:p>
        </p:txBody>
      </p:sp>
      <p:sp>
        <p:nvSpPr>
          <p:cNvPr id="28" name="TextBox 27">
            <a:extLst>
              <a:ext uri="{FF2B5EF4-FFF2-40B4-BE49-F238E27FC236}">
                <a16:creationId xmlns:a16="http://schemas.microsoft.com/office/drawing/2014/main" id="{891C719D-3052-35D8-9480-60287E554D38}"/>
              </a:ext>
            </a:extLst>
          </p:cNvPr>
          <p:cNvSpPr txBox="1"/>
          <p:nvPr/>
        </p:nvSpPr>
        <p:spPr>
          <a:xfrm>
            <a:off x="3054959" y="1827775"/>
            <a:ext cx="826936" cy="369332"/>
          </a:xfrm>
          <a:prstGeom prst="rect">
            <a:avLst/>
          </a:prstGeom>
          <a:noFill/>
        </p:spPr>
        <p:txBody>
          <a:bodyPr wrap="square" rtlCol="0">
            <a:spAutoFit/>
          </a:bodyPr>
          <a:lstStyle/>
          <a:p>
            <a:r>
              <a:rPr lang="en-GB" dirty="0">
                <a:latin typeface="Abadi" panose="020B0604020104020204" pitchFamily="34" charset="0"/>
              </a:rPr>
              <a:t>f=1/2</a:t>
            </a:r>
          </a:p>
        </p:txBody>
      </p:sp>
      <p:sp>
        <p:nvSpPr>
          <p:cNvPr id="29" name="TextBox 28">
            <a:extLst>
              <a:ext uri="{FF2B5EF4-FFF2-40B4-BE49-F238E27FC236}">
                <a16:creationId xmlns:a16="http://schemas.microsoft.com/office/drawing/2014/main" id="{C8856AE2-C156-3907-53EA-AE345CFDB5E4}"/>
              </a:ext>
            </a:extLst>
          </p:cNvPr>
          <p:cNvSpPr txBox="1"/>
          <p:nvPr/>
        </p:nvSpPr>
        <p:spPr>
          <a:xfrm>
            <a:off x="1386830" y="504015"/>
            <a:ext cx="2122999" cy="923330"/>
          </a:xfrm>
          <a:prstGeom prst="rect">
            <a:avLst/>
          </a:prstGeom>
          <a:noFill/>
        </p:spPr>
        <p:txBody>
          <a:bodyPr wrap="square" rtlCol="0">
            <a:spAutoFit/>
          </a:bodyPr>
          <a:lstStyle/>
          <a:p>
            <a:r>
              <a:rPr lang="en-GB" dirty="0">
                <a:latin typeface="Abadi" panose="020B0604020104020204" pitchFamily="34" charset="0"/>
              </a:rPr>
              <a:t>Threshold = 0.4</a:t>
            </a:r>
          </a:p>
          <a:p>
            <a:r>
              <a:rPr lang="en-GB" dirty="0">
                <a:latin typeface="Abadi" panose="020B0604020104020204" pitchFamily="34" charset="0"/>
              </a:rPr>
              <a:t>     inactive</a:t>
            </a:r>
          </a:p>
          <a:p>
            <a:r>
              <a:rPr lang="en-GB" dirty="0">
                <a:latin typeface="Abadi" panose="020B0604020104020204" pitchFamily="34" charset="0"/>
              </a:rPr>
              <a:t>     active</a:t>
            </a:r>
          </a:p>
        </p:txBody>
      </p:sp>
      <p:sp>
        <p:nvSpPr>
          <p:cNvPr id="30" name="Oval 29">
            <a:extLst>
              <a:ext uri="{FF2B5EF4-FFF2-40B4-BE49-F238E27FC236}">
                <a16:creationId xmlns:a16="http://schemas.microsoft.com/office/drawing/2014/main" id="{523E02D8-7E6E-037E-1820-B9E1F8181EAB}"/>
              </a:ext>
            </a:extLst>
          </p:cNvPr>
          <p:cNvSpPr/>
          <p:nvPr/>
        </p:nvSpPr>
        <p:spPr>
          <a:xfrm>
            <a:off x="1492865" y="873347"/>
            <a:ext cx="230588" cy="23058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4A2EA879-D962-0FBF-ABE7-178B8A172038}"/>
              </a:ext>
            </a:extLst>
          </p:cNvPr>
          <p:cNvSpPr/>
          <p:nvPr/>
        </p:nvSpPr>
        <p:spPr>
          <a:xfrm>
            <a:off x="1492865" y="1180278"/>
            <a:ext cx="230588" cy="230588"/>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87CFB404-2A27-1203-2955-F2AC232B660B}"/>
              </a:ext>
            </a:extLst>
          </p:cNvPr>
          <p:cNvSpPr/>
          <p:nvPr/>
        </p:nvSpPr>
        <p:spPr>
          <a:xfrm>
            <a:off x="4120434" y="1497261"/>
            <a:ext cx="524786" cy="52478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051B8F42-F886-A3EB-A52E-D2A35CFC8F62}"/>
              </a:ext>
            </a:extLst>
          </p:cNvPr>
          <p:cNvSpPr/>
          <p:nvPr/>
        </p:nvSpPr>
        <p:spPr>
          <a:xfrm>
            <a:off x="5168019" y="1648651"/>
            <a:ext cx="524786" cy="52478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900DA379-7A72-5336-3496-D45E6B3E31CA}"/>
              </a:ext>
            </a:extLst>
          </p:cNvPr>
          <p:cNvSpPr/>
          <p:nvPr/>
        </p:nvSpPr>
        <p:spPr>
          <a:xfrm>
            <a:off x="4253619" y="2845322"/>
            <a:ext cx="524786" cy="52478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Straight Connector 35">
            <a:extLst>
              <a:ext uri="{FF2B5EF4-FFF2-40B4-BE49-F238E27FC236}">
                <a16:creationId xmlns:a16="http://schemas.microsoft.com/office/drawing/2014/main" id="{B6FE4712-99D0-C17D-83AD-5E331B9C8244}"/>
              </a:ext>
            </a:extLst>
          </p:cNvPr>
          <p:cNvCxnSpPr>
            <a:cxnSpLocks/>
            <a:endCxn id="33" idx="2"/>
          </p:cNvCxnSpPr>
          <p:nvPr/>
        </p:nvCxnSpPr>
        <p:spPr>
          <a:xfrm>
            <a:off x="4645220" y="1867312"/>
            <a:ext cx="522799" cy="437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F6A263C-7759-D290-0F2C-32E84613F976}"/>
              </a:ext>
            </a:extLst>
          </p:cNvPr>
          <p:cNvCxnSpPr>
            <a:cxnSpLocks/>
            <a:stCxn id="35" idx="0"/>
            <a:endCxn id="32" idx="4"/>
          </p:cNvCxnSpPr>
          <p:nvPr/>
        </p:nvCxnSpPr>
        <p:spPr>
          <a:xfrm flipH="1" flipV="1">
            <a:off x="4382827" y="2022047"/>
            <a:ext cx="133185" cy="82327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234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C0387-6429-FE48-E080-32193254DFC2}"/>
              </a:ext>
            </a:extLst>
          </p:cNvPr>
          <p:cNvSpPr>
            <a:spLocks noGrp="1"/>
          </p:cNvSpPr>
          <p:nvPr>
            <p:ph type="title"/>
          </p:nvPr>
        </p:nvSpPr>
        <p:spPr/>
        <p:txBody>
          <a:bodyPr/>
          <a:lstStyle/>
          <a:p>
            <a:r>
              <a:rPr lang="en-GB" dirty="0"/>
              <a:t>Building Robustness</a:t>
            </a:r>
          </a:p>
        </p:txBody>
      </p:sp>
      <p:pic>
        <p:nvPicPr>
          <p:cNvPr id="9" name="Picture 8">
            <a:extLst>
              <a:ext uri="{FF2B5EF4-FFF2-40B4-BE49-F238E27FC236}">
                <a16:creationId xmlns:a16="http://schemas.microsoft.com/office/drawing/2014/main" id="{3C3F1AA9-42EB-0A15-0D79-899C71E53435}"/>
              </a:ext>
            </a:extLst>
          </p:cNvPr>
          <p:cNvPicPr>
            <a:picLocks noChangeAspect="1"/>
          </p:cNvPicPr>
          <p:nvPr/>
        </p:nvPicPr>
        <p:blipFill>
          <a:blip r:embed="rId2"/>
          <a:stretch>
            <a:fillRect/>
          </a:stretch>
        </p:blipFill>
        <p:spPr>
          <a:xfrm>
            <a:off x="6782201" y="1618371"/>
            <a:ext cx="5178893" cy="4056505"/>
          </a:xfrm>
          <a:prstGeom prst="rect">
            <a:avLst/>
          </a:prstGeom>
        </p:spPr>
      </p:pic>
      <p:pic>
        <p:nvPicPr>
          <p:cNvPr id="13" name="Picture 12">
            <a:extLst>
              <a:ext uri="{FF2B5EF4-FFF2-40B4-BE49-F238E27FC236}">
                <a16:creationId xmlns:a16="http://schemas.microsoft.com/office/drawing/2014/main" id="{0A4AF757-5202-DAAC-5967-E66D35564F5B}"/>
              </a:ext>
            </a:extLst>
          </p:cNvPr>
          <p:cNvPicPr>
            <a:picLocks noChangeAspect="1"/>
          </p:cNvPicPr>
          <p:nvPr/>
        </p:nvPicPr>
        <p:blipFill>
          <a:blip r:embed="rId3"/>
          <a:stretch>
            <a:fillRect/>
          </a:stretch>
        </p:blipFill>
        <p:spPr>
          <a:xfrm>
            <a:off x="752847" y="1496795"/>
            <a:ext cx="5629275" cy="4371975"/>
          </a:xfrm>
          <a:prstGeom prst="rect">
            <a:avLst/>
          </a:prstGeom>
        </p:spPr>
      </p:pic>
      <p:sp>
        <p:nvSpPr>
          <p:cNvPr id="14" name="TextBox 13">
            <a:extLst>
              <a:ext uri="{FF2B5EF4-FFF2-40B4-BE49-F238E27FC236}">
                <a16:creationId xmlns:a16="http://schemas.microsoft.com/office/drawing/2014/main" id="{63037FCC-7996-4239-4703-3792AE818EB0}"/>
              </a:ext>
            </a:extLst>
          </p:cNvPr>
          <p:cNvSpPr txBox="1"/>
          <p:nvPr/>
        </p:nvSpPr>
        <p:spPr>
          <a:xfrm>
            <a:off x="2083241" y="6019137"/>
            <a:ext cx="3554233" cy="369332"/>
          </a:xfrm>
          <a:prstGeom prst="rect">
            <a:avLst/>
          </a:prstGeom>
          <a:noFill/>
        </p:spPr>
        <p:txBody>
          <a:bodyPr wrap="square" rtlCol="0">
            <a:spAutoFit/>
          </a:bodyPr>
          <a:lstStyle/>
          <a:p>
            <a:r>
              <a:rPr lang="en-GB" dirty="0"/>
              <a:t>N = 5000, </a:t>
            </a:r>
            <a:r>
              <a:rPr lang="en-GB" dirty="0" err="1"/>
              <a:t>c_min</a:t>
            </a:r>
            <a:r>
              <a:rPr lang="en-GB" dirty="0"/>
              <a:t> = 1, repeat = 100</a:t>
            </a:r>
          </a:p>
        </p:txBody>
      </p:sp>
    </p:spTree>
    <p:extLst>
      <p:ext uri="{BB962C8B-B14F-4D97-AF65-F5344CB8AC3E}">
        <p14:creationId xmlns:p14="http://schemas.microsoft.com/office/powerpoint/2010/main" val="1821242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302</Words>
  <Application>Microsoft Office PowerPoint</Application>
  <PresentationFormat>Widescreen</PresentationFormat>
  <Paragraphs>35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Abadi</vt:lpstr>
      <vt:lpstr>Arial</vt:lpstr>
      <vt:lpstr>Calibri</vt:lpstr>
      <vt:lpstr>Calibri Light</vt:lpstr>
      <vt:lpstr>Cambria Math</vt:lpstr>
      <vt:lpstr>Office Theme</vt:lpstr>
      <vt:lpstr>Percolation</vt:lpstr>
      <vt:lpstr>Percolation on Random Networks</vt:lpstr>
      <vt:lpstr>Barabási-Albert Networks</vt:lpstr>
      <vt:lpstr>PowerPoint Presentation</vt:lpstr>
      <vt:lpstr>PowerPoint Presentation</vt:lpstr>
      <vt:lpstr>Power Grid</vt:lpstr>
      <vt:lpstr>Gene Network</vt:lpstr>
      <vt:lpstr>Failure propagation model</vt:lpstr>
      <vt:lpstr>PowerPoint Presentation</vt:lpstr>
      <vt:lpstr>PowerPoint Presentation</vt:lpstr>
      <vt:lpstr>Building Robustness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Percolation</dc:title>
  <dc:creator>Efe Görgüner</dc:creator>
  <cp:lastModifiedBy>Efe Görgüner</cp:lastModifiedBy>
  <cp:revision>19</cp:revision>
  <dcterms:created xsi:type="dcterms:W3CDTF">2022-08-30T11:02:16Z</dcterms:created>
  <dcterms:modified xsi:type="dcterms:W3CDTF">2022-09-04T17:49:25Z</dcterms:modified>
</cp:coreProperties>
</file>